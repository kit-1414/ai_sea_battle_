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C8C1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656539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1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OpenCode и ИИ в разработке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1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1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56448" y="0"/>
            <a:ext cx="4041648" cy="6858000"/>
          </a:xfrm>
          <a:prstGeom prst="rect">
            <a:avLst/>
          </a:prstGeom>
          <a:solidFill>
            <a:srgbClr val="0E263B"/>
          </a:solidFill>
          <a:ln w="12700">
            <a:solidFill>
              <a:srgbClr val="0E26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078992"/>
            <a:ext cx="1005840" cy="0"/>
          </a:xfrm>
          <a:prstGeom prst="line">
            <a:avLst/>
          </a:prstGeom>
          <a:noFill/>
          <a:ln w="50800">
            <a:solidFill>
              <a:srgbClr val="B38A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35024"/>
            <a:ext cx="6720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ИСПОЛЬЗОВАНИЕ ИИ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В РАЗРАБОТКЕ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68096" y="3218688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7E0E6"/>
                </a:solidFill>
              </a:rPr>
              <a:t>OpenCode и ChatGPT на примере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D7E0E6"/>
                </a:solidFill>
              </a:rPr>
              <a:t>мультиагентного «Морского боя»</a:t>
            </a:r>
            <a:endParaRPr lang="en-US" sz="2100" dirty="0"/>
          </a:p>
        </p:txBody>
      </p:sp>
      <p:pic>
        <p:nvPicPr>
          <p:cNvPr id="7" name="Image 0" descr="C:/Users/kit-1414/AppData/Local/Temp/opencode/presentation-assets/open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1078992"/>
            <a:ext cx="3218688" cy="1609344"/>
          </a:xfrm>
          <a:prstGeom prst="rect">
            <a:avLst/>
          </a:prstGeom>
        </p:spPr>
      </p:pic>
      <p:pic>
        <p:nvPicPr>
          <p:cNvPr id="8" name="Image 1" descr="C:/Users/kit-1414/AppData/Local/Temp/opencode/presentation-assets/open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2871216"/>
            <a:ext cx="3218688" cy="16093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8096" y="60533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38A42"/>
                </a:solidFill>
              </a:rPr>
              <a:t>Учебный доклад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430768" y="4617720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6717C"/>
                </a:solidFill>
              </a:rPr>
              <a:t>Изображения: GitHub Open Graph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8A42"/>
                </a:solidFill>
              </a:rPr>
              <a:t>ВВЕДЕНИЕ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Задача и демонстрационный кейс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A42"/>
                </a:solidFill>
              </a:rPr>
              <a:t>Цель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1847088"/>
            <a:ext cx="55321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Показать, как OpenCode организует работу ИИ через контекст, инструкции, агентов, команды и инструменты.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720840" y="1353312"/>
            <a:ext cx="4736592" cy="3493008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20840" y="1353312"/>
            <a:ext cx="73152" cy="3493008"/>
          </a:xfrm>
          <a:prstGeom prst="rect">
            <a:avLst/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1527048"/>
            <a:ext cx="4261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«Морской бой»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95160" y="2066544"/>
            <a:ext cx="420624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Два независимых адмирала играют по классическим правилам. Координатор управляет ходами и сохраняет статистику. Проект состоит из конфигураций, инструкций и протоколов, без прикладного кода.</a:t>
            </a:r>
            <a:endParaRPr lang="en-US" sz="1350" dirty="0"/>
          </a:p>
        </p:txBody>
      </p:sp>
      <p:pic>
        <p:nvPicPr>
          <p:cNvPr id="10" name="Image 0" descr="C:/Users/kit-1414/AppData/Local/Temp/opencode/presentation-assets/sea-bat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2" y="3822192"/>
            <a:ext cx="3931920" cy="12344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8368" y="4800600"/>
            <a:ext cx="5532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D2935"/>
                </a:solidFill>
              </a:rPr>
              <a:t>Ключевой вопрос: какие сущности нужны, чтобы превратить LLM в управляемую систему?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114032" y="51023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6717C"/>
                </a:solidFill>
              </a:rPr>
              <a:t>Источник изображения: GitHub Open Graph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1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8A42"/>
                </a:solidFill>
              </a:rPr>
              <a:t>ЭВОЛЮЦИЯ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Три версии учебного проекта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493008" cy="4315968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17320"/>
            <a:ext cx="73152" cy="4315968"/>
          </a:xfrm>
          <a:prstGeom prst="rect">
            <a:avLst/>
          </a:prstGeom>
          <a:solidFill>
            <a:srgbClr val="B38A42"/>
          </a:solidFill>
          <a:ln w="12700">
            <a:solidFill>
              <a:srgbClr val="B38A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600200"/>
            <a:ext cx="475488" cy="475488"/>
          </a:xfrm>
          <a:prstGeom prst="ellipse">
            <a:avLst/>
          </a:prstGeom>
          <a:solidFill>
            <a:srgbClr val="B38A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499616" y="159105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Версия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2130552"/>
            <a:ext cx="296265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Вся конфигурация сосредоточена в opencode.json. Удобна для обзора всех сущностей в одном месте.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52544" y="1417320"/>
            <a:ext cx="3493008" cy="4315968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2544" y="1417320"/>
            <a:ext cx="73152" cy="4315968"/>
          </a:xfrm>
          <a:prstGeom prst="rect">
            <a:avLst/>
          </a:prstGeom>
          <a:solidFill>
            <a:srgbClr val="315D7C"/>
          </a:solidFill>
          <a:ln w="12700">
            <a:solidFill>
              <a:srgbClr val="315D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600200"/>
            <a:ext cx="475488" cy="475488"/>
          </a:xfrm>
          <a:prstGeom prst="ellipse">
            <a:avLst/>
          </a:prstGeom>
          <a:solidFill>
            <a:srgbClr val="315D7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5193792" y="159105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Версия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26864" y="2130552"/>
            <a:ext cx="296265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Структура адаптирована под OpenCode: инструкции, агенты и команды разнесены по профильным файлам.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417320"/>
            <a:ext cx="3493008" cy="4315968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417320"/>
            <a:ext cx="73152" cy="4315968"/>
          </a:xfrm>
          <a:prstGeom prst="rect">
            <a:avLst/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600200"/>
            <a:ext cx="475488" cy="475488"/>
          </a:xfrm>
          <a:prstGeom prst="ellipse">
            <a:avLst/>
          </a:prstGeom>
          <a:solidFill>
            <a:srgbClr val="397C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887968" y="159105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Версия 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2130552"/>
            <a:ext cx="296265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Оптимизированная логика второй версии: меньше вызовов агентов и более эффективный игровой протокол.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965960" y="5925312"/>
            <a:ext cx="8275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6717C"/>
                </a:solidFill>
              </a:rPr>
              <a:t>От монолитной конфигурации к нативной структуре и оптимизации взаимодействий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1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8A42"/>
                </a:solidFill>
              </a:rPr>
              <a:t>АРХИТЕКТУРА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Основные сущности OpenCode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2395728" cy="2880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38A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92024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A42"/>
                </a:solidFill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86968" y="24688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6968" y="3127248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2935"/>
                </a:solidFill>
              </a:rPr>
              <a:t>Правила, знания и рабочие ограничения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93008" y="1691640"/>
            <a:ext cx="2395728" cy="2880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5D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94176" y="192024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A42"/>
                </a:solidFill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94176" y="24688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94176" y="3127248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2935"/>
                </a:solidFill>
              </a:rPr>
              <a:t>Роли, отдельные сессии и специализация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300216" y="1691640"/>
            <a:ext cx="2395728" cy="2880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5D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1384" y="192024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A42"/>
                </a:solidFill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01384" y="24688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01384" y="3127248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2935"/>
                </a:solidFill>
              </a:rPr>
              <a:t>Сценарии запуска через / с аргументами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07424" y="1691640"/>
            <a:ext cx="2395728" cy="2880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15D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08592" y="192024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8A42"/>
                </a:solidFill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08592" y="24688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08592" y="3127248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2935"/>
                </a:solidFill>
              </a:rPr>
              <a:t>Чтение, редактирование, shell, task и др.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70832" y="5074920"/>
            <a:ext cx="3456432" cy="365760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Контекст сессии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5596128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17C"/>
                </a:solidFill>
              </a:rPr>
              <a:t>объединяет загруженные знания, историю сообщений и результаты работы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1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8A42"/>
                </a:solidFill>
              </a:rPr>
              <a:t>БАЗОВАЯ МОДЕЛЬ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Контекст и сессия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50792" y="1554480"/>
            <a:ext cx="4069080" cy="4069080"/>
          </a:xfrm>
          <a:prstGeom prst="ellipse">
            <a:avLst/>
          </a:prstGeom>
          <a:solidFill>
            <a:srgbClr val="E3E9EC"/>
          </a:solidFill>
          <a:ln w="25400">
            <a:solidFill>
              <a:srgbClr val="315D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19472" y="2423160"/>
            <a:ext cx="2331720" cy="23317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57800" y="32918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СЕССИЯ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865376"/>
            <a:ext cx="2468880" cy="365760"/>
          </a:xfrm>
          <a:prstGeom prst="rect">
            <a:avLst/>
          </a:prstGeom>
          <a:solidFill>
            <a:srgbClr val="315D7C"/>
          </a:solidFill>
          <a:ln>
            <a:solidFill>
              <a:srgbClr val="315D7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Инструкции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315968"/>
            <a:ext cx="2468880" cy="365760"/>
          </a:xfrm>
          <a:prstGeom prst="rect">
            <a:avLst/>
          </a:prstGeom>
          <a:solidFill>
            <a:srgbClr val="397C78"/>
          </a:solidFill>
          <a:ln>
            <a:solidFill>
              <a:srgbClr val="397C7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История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05672" y="1865376"/>
            <a:ext cx="2468880" cy="365760"/>
          </a:xfrm>
          <a:prstGeom prst="rect">
            <a:avLst/>
          </a:prstGeom>
          <a:solidFill>
            <a:srgbClr val="315D7C"/>
          </a:solidFill>
          <a:ln>
            <a:solidFill>
              <a:srgbClr val="315D7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Исходные файлы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05672" y="4315968"/>
            <a:ext cx="2468880" cy="365760"/>
          </a:xfrm>
          <a:prstGeom prst="rect">
            <a:avLst/>
          </a:prstGeom>
          <a:solidFill>
            <a:srgbClr val="397C78"/>
          </a:solidFill>
          <a:ln>
            <a:solidFill>
              <a:srgbClr val="397C7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Результаты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1901952"/>
            <a:ext cx="502920" cy="329184"/>
          </a:xfrm>
          <a:prstGeom prst="chevron">
            <a:avLst/>
          </a:prstGeom>
          <a:solidFill>
            <a:srgbClr val="B38A42"/>
          </a:solidFill>
          <a:ln w="12700">
            <a:solidFill>
              <a:srgbClr val="B38A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4352544"/>
            <a:ext cx="502920" cy="329184"/>
          </a:xfrm>
          <a:prstGeom prst="chevron">
            <a:avLst/>
          </a:prstGeom>
          <a:solidFill>
            <a:srgbClr val="B38A42"/>
          </a:solidFill>
          <a:ln w="12700">
            <a:solidFill>
              <a:srgbClr val="B38A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65592" y="1901952"/>
            <a:ext cx="502920" cy="329184"/>
          </a:xfrm>
          <a:prstGeom prst="chevron">
            <a:avLst/>
          </a:prstGeom>
          <a:solidFill>
            <a:srgbClr val="B38A42"/>
          </a:solidFill>
          <a:ln w="12700">
            <a:solidFill>
              <a:srgbClr val="B38A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65592" y="4352544"/>
            <a:ext cx="502920" cy="329184"/>
          </a:xfrm>
          <a:prstGeom prst="chevron">
            <a:avLst/>
          </a:prstGeom>
          <a:solidFill>
            <a:srgbClr val="B38A42"/>
          </a:solidFill>
          <a:ln w="12700">
            <a:solidFill>
              <a:srgbClr val="B38A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47672" y="58704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Сессия хранит изменяющийся рабочий контекст и может быть продолжена по постоянному идентификатору.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1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8A42"/>
                </a:solidFill>
              </a:rPr>
              <a:t>УРОВНИ ХРАНЕНИЯ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Где находится контекст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401568" cy="434340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73152" cy="4343400"/>
          </a:xfrm>
          <a:prstGeom prst="rect">
            <a:avLst/>
          </a:prstGeom>
          <a:solidFill>
            <a:srgbClr val="B38A42"/>
          </a:solidFill>
          <a:ln w="12700">
            <a:solidFill>
              <a:srgbClr val="B38A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453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LLM-запрос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084832"/>
            <a:ext cx="2871216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Модель получает только данные, помещённые в текущее окно контекста. После вызова сама модель не становится постоянным хранилищем истории.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401568" cy="434340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371600"/>
            <a:ext cx="73152" cy="4343400"/>
          </a:xfrm>
          <a:prstGeom prst="rect">
            <a:avLst/>
          </a:prstGeom>
          <a:solidFill>
            <a:srgbClr val="315D7C"/>
          </a:solidFill>
          <a:ln w="12700">
            <a:solidFill>
              <a:srgbClr val="315D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453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Агент / клиент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2084832"/>
            <a:ext cx="2871216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Фреймворк хранит историю сессии, выбирает релевантный фрагмент и формирует очередной prompt с учётом лимита токенов.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92440" y="1371600"/>
            <a:ext cx="3401568" cy="434340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1371600"/>
            <a:ext cx="73152" cy="4343400"/>
          </a:xfrm>
          <a:prstGeom prst="rect">
            <a:avLst/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5453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Внешнее хранилище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66760" y="2084832"/>
            <a:ext cx="2871216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Для переноса между устройствами или долгого хранения применяются API провайдера, базы данных, файлы или очереди сообщений.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508760" y="5925312"/>
            <a:ext cx="9189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6717C"/>
                </a:solidFill>
              </a:rPr>
              <a:t>Важно разделять память модели, состояние агентской сессии и долговременное хранение данных.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1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8A42"/>
                </a:solidFill>
              </a:rPr>
              <a:t>ИНТЕГРАЦИЯ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Conversation API: внешний слой состояния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2267712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C5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5564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Клиент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217627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17C"/>
                </a:solidFill>
              </a:rPr>
              <a:t>Отправляет сообщение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17520" y="1993392"/>
            <a:ext cx="384048" cy="329184"/>
          </a:xfrm>
          <a:prstGeom prst="chevron">
            <a:avLst/>
          </a:prstGeom>
          <a:solidFill>
            <a:srgbClr val="B38A42"/>
          </a:solidFill>
          <a:ln w="12700">
            <a:solidFill>
              <a:srgbClr val="B38A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11296" y="1508760"/>
            <a:ext cx="2267712" cy="1325880"/>
          </a:xfrm>
          <a:prstGeom prst="roundRect">
            <a:avLst/>
          </a:prstGeom>
          <a:solidFill>
            <a:srgbClr val="DCE7ED"/>
          </a:solidFill>
          <a:ln w="15240">
            <a:solidFill>
              <a:srgbClr val="315D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94176" y="175564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API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94176" y="217627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17C"/>
                </a:solidFill>
              </a:rPr>
              <a:t>Идентифицирует беседу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70448" y="1993392"/>
            <a:ext cx="384048" cy="329184"/>
          </a:xfrm>
          <a:prstGeom prst="chevron">
            <a:avLst/>
          </a:prstGeom>
          <a:solidFill>
            <a:srgbClr val="B38A42"/>
          </a:solidFill>
          <a:ln w="12700">
            <a:solidFill>
              <a:srgbClr val="B38A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64224" y="1508760"/>
            <a:ext cx="2267712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C5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175564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Хранилище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47104" y="217627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17C"/>
                </a:solidFill>
              </a:rPr>
              <a:t>Сохраняет историю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23376" y="1993392"/>
            <a:ext cx="384048" cy="329184"/>
          </a:xfrm>
          <a:prstGeom prst="chevron">
            <a:avLst/>
          </a:prstGeom>
          <a:solidFill>
            <a:srgbClr val="B38A42"/>
          </a:solidFill>
          <a:ln w="12700">
            <a:solidFill>
              <a:srgbClr val="B38A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17152" y="1508760"/>
            <a:ext cx="2267712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C5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00032" y="1755648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LLM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400032" y="217627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17C"/>
                </a:solidFill>
              </a:rPr>
              <a:t>Получает рабочий срез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3383280"/>
            <a:ext cx="4892040" cy="2121408"/>
          </a:xfrm>
          <a:prstGeom prst="roundRect">
            <a:avLst/>
          </a:prstGeom>
          <a:solidFill>
            <a:srgbClr val="202A33"/>
          </a:solidFill>
          <a:ln w="12700">
            <a:solidFill>
              <a:srgbClr val="202A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3547872"/>
            <a:ext cx="448970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/v1/Conversations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 &lt;API_KEY&gt;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"unique_name": "support_chat" 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Conversation ID / sid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80760" y="3364992"/>
            <a:ext cx="5230368" cy="2148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D2935"/>
                </a:solidFill>
              </a:rPr>
              <a:t>Продолжение диалога по ID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D2935"/>
                </a:solidFill>
              </a:rPr>
              <a:t>Авторизация и регион хранения задаются провайдером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D2935"/>
                </a:solidFill>
              </a:rPr>
              <a:t>Срок хранения зависит от конкретного сервиса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34440" y="5879592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Conversation API — архитектурный паттерн и семейство сервисов, а не встроенная память LLM.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1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8A42"/>
                </a:solidFill>
              </a:rPr>
              <a:t>УПРАВЛЕНИЕ ПОВЕДЕНИЕМ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Инструкции: знания и правила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5623560" cy="3291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D2935"/>
                </a:solidFill>
              </a:rPr>
              <a:t>Бизнес-логика и терминология проекта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D2935"/>
                </a:solidFill>
              </a:rPr>
              <a:t>Правила написания и проверки кода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D2935"/>
                </a:solidFill>
              </a:rPr>
              <a:t>Ограничения доступа и ожидаемый формат результата</a:t>
            </a:r>
            <a:endParaRPr lang="en-US" sz="2000" dirty="0"/>
          </a:p>
          <a:p>
            <a:pPr marL="254000" indent="-254000">
              <a:buSzPct val="100000"/>
              <a:buChar char="•"/>
            </a:pPr>
            <a:r>
              <a:rPr lang="en-US" sz="2000" dirty="0">
                <a:solidFill>
                  <a:srgbClr val="1D2935"/>
                </a:solidFill>
              </a:rPr>
              <a:t>Сведения, необходимые для анализа и действий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480560" cy="3611880"/>
          </a:xfrm>
          <a:prstGeom prst="roundRect">
            <a:avLst/>
          </a:prstGeom>
          <a:solidFill>
            <a:srgbClr val="E7ECEF"/>
          </a:solidFill>
          <a:ln w="15240">
            <a:solidFill>
              <a:srgbClr val="315D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17922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10" kern="0" dirty="0">
                <a:solidFill>
                  <a:srgbClr val="B38A42"/>
                </a:solidFill>
              </a:rPr>
              <a:t>СПОСОБЫ ЗАГРУЗКИ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87184" y="243230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A42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238658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935"/>
                </a:solidFill>
              </a:rPr>
              <a:t>При запуске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87184" y="3136392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A42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309067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935"/>
                </a:solidFill>
              </a:rPr>
              <a:t>По запросу пользователя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87184" y="3840480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A42"/>
                </a:solidFill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37947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935"/>
                </a:solidFill>
              </a:rPr>
              <a:t>Агентом для конкретной задачи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541324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Хорошая инструкция делает поведение агента воспроизводимым и проверяемым.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1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8A42"/>
                </a:solidFill>
              </a:rPr>
              <a:t>РАЗДЕЛЕНИЕ РОЛЕЙ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Агенты и субагенты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443984" y="1307592"/>
            <a:ext cx="3291840" cy="365760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Основной агент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0" y="1792224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17C"/>
                </a:solidFill>
              </a:rPr>
              <a:t>новая сессия + собственный контекст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9904" y="2194560"/>
            <a:ext cx="0" cy="612648"/>
          </a:xfrm>
          <a:prstGeom prst="line">
            <a:avLst/>
          </a:prstGeom>
          <a:noFill/>
          <a:ln w="25400">
            <a:solidFill>
              <a:srgbClr val="B38A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21408" y="2807208"/>
            <a:ext cx="7927848" cy="0"/>
          </a:xfrm>
          <a:prstGeom prst="line">
            <a:avLst/>
          </a:prstGeom>
          <a:noFill/>
          <a:ln w="25400">
            <a:solidFill>
              <a:srgbClr val="B38A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21408" y="2807208"/>
            <a:ext cx="0" cy="502920"/>
          </a:xfrm>
          <a:prstGeom prst="line">
            <a:avLst/>
          </a:prstGeom>
          <a:noFill/>
          <a:ln w="25400">
            <a:solidFill>
              <a:srgbClr val="B38A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310128"/>
            <a:ext cx="260604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310128"/>
            <a:ext cx="73152" cy="1938528"/>
          </a:xfrm>
          <a:prstGeom prst="rect">
            <a:avLst/>
          </a:prstGeom>
          <a:solidFill>
            <a:srgbClr val="315D7C"/>
          </a:solidFill>
          <a:ln w="12700">
            <a:solidFill>
              <a:srgbClr val="315D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483864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Explore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4023360"/>
            <a:ext cx="20756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Поиск и анализ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9048" y="2807208"/>
            <a:ext cx="0" cy="502920"/>
          </a:xfrm>
          <a:prstGeom prst="line">
            <a:avLst/>
          </a:prstGeom>
          <a:noFill/>
          <a:ln w="25400">
            <a:solidFill>
              <a:srgbClr val="B38A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3310128"/>
            <a:ext cx="260604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3310128"/>
            <a:ext cx="73152" cy="1938528"/>
          </a:xfrm>
          <a:prstGeom prst="rect">
            <a:avLst/>
          </a:prstGeom>
          <a:solidFill>
            <a:srgbClr val="315D7C"/>
          </a:solidFill>
          <a:ln w="12700">
            <a:solidFill>
              <a:srgbClr val="315D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3483864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Admiral blue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74920" y="4023360"/>
            <a:ext cx="20756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Состояние синего поля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0076688" y="2807208"/>
            <a:ext cx="0" cy="502920"/>
          </a:xfrm>
          <a:prstGeom prst="line">
            <a:avLst/>
          </a:prstGeom>
          <a:noFill/>
          <a:ln w="25400">
            <a:solidFill>
              <a:srgbClr val="B38A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3310128"/>
            <a:ext cx="260604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78240" y="3310128"/>
            <a:ext cx="73152" cy="1938528"/>
          </a:xfrm>
          <a:prstGeom prst="rect">
            <a:avLst/>
          </a:prstGeom>
          <a:solidFill>
            <a:srgbClr val="567A5C"/>
          </a:solidFill>
          <a:ln w="12700">
            <a:solidFill>
              <a:srgbClr val="567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3483864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Admiral green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52560" y="4023360"/>
            <a:ext cx="20756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Состояние зелёного поля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05840" y="5669280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Содержимое дочерней сессии не передаётся родителю автоматически; родитель получает итоговый ответ.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1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8A42"/>
                </a:solidFill>
              </a:rPr>
              <a:t>ПРОТОКОЛ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Передача данных между агентами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2926080" cy="141732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АГЕНТ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485632" y="1508760"/>
            <a:ext cx="2926080" cy="1417320"/>
          </a:xfrm>
          <a:prstGeom prst="roundRect">
            <a:avLst/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15400" y="1920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СУБАГЕНТ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4023360" y="1901952"/>
            <a:ext cx="4069080" cy="329184"/>
          </a:xfrm>
          <a:prstGeom prst="chevron">
            <a:avLst/>
          </a:prstGeom>
          <a:solidFill>
            <a:srgbClr val="B38A42"/>
          </a:solidFill>
          <a:ln w="12700">
            <a:solidFill>
              <a:srgbClr val="B38A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24528" y="1435608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8A42"/>
                </a:solidFill>
              </a:rPr>
              <a:t>структурированные параметры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3520440"/>
            <a:ext cx="4956048" cy="2148840"/>
          </a:xfrm>
          <a:prstGeom prst="roundRect">
            <a:avLst/>
          </a:prstGeom>
          <a:solidFill>
            <a:srgbClr val="202A33"/>
          </a:solidFill>
          <a:ln w="12700">
            <a:solidFill>
              <a:srgbClr val="202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3685032"/>
            <a:ext cx="4553712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"task": "analyze_text",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"input": "Пример текста",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"options":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"language": "ru",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"mode": "summary"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99632" y="3438144"/>
            <a:ext cx="5074920" cy="2240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1D2935"/>
                </a:solidFill>
              </a:rPr>
              <a:t>Автоматическая передача всего контекста обычно не гарантируется</a:t>
            </a:r>
            <a:endParaRPr lang="en-US" sz="1650" dirty="0"/>
          </a:p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1D2935"/>
                </a:solidFill>
              </a:rPr>
              <a:t>Надёжный вариант — явно определить поля входа и выхода</a:t>
            </a:r>
            <a:endParaRPr lang="en-US" sz="1650" dirty="0"/>
          </a:p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1D2935"/>
                </a:solidFill>
              </a:rPr>
              <a:t>Для общего состояния можно использовать внешнее хранилище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1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8A42"/>
                </a:solidFill>
              </a:rPr>
              <a:t>СТРУКТУРИРОВАННЫЙ ОБМЕН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Возврат результата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5102352" cy="4370832"/>
          </a:xfrm>
          <a:prstGeom prst="roundRect">
            <a:avLst/>
          </a:prstGeom>
          <a:solidFill>
            <a:srgbClr val="202A33"/>
          </a:solidFill>
          <a:ln w="12700">
            <a:solidFill>
              <a:srgbClr val="202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4700016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"success",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"result": "Краткое содержание текста",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"metadata":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"tokens_used": 120,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"execution_time_ms": 45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36208" y="1298448"/>
            <a:ext cx="5074920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36208" y="1298448"/>
            <a:ext cx="73152" cy="1216152"/>
          </a:xfrm>
          <a:prstGeom prst="rect">
            <a:avLst/>
          </a:prstGeom>
          <a:solidFill>
            <a:srgbClr val="315D7C"/>
          </a:solidFill>
          <a:ln w="12700">
            <a:solidFill>
              <a:srgbClr val="315D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0528" y="1472184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status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10528" y="2011680"/>
            <a:ext cx="4544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успех или ошибка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36208" y="2761488"/>
            <a:ext cx="5074920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36208" y="2761488"/>
            <a:ext cx="73152" cy="1216152"/>
          </a:xfrm>
          <a:prstGeom prst="rect">
            <a:avLst/>
          </a:prstGeom>
          <a:solidFill>
            <a:srgbClr val="315D7C"/>
          </a:solidFill>
          <a:ln w="12700">
            <a:solidFill>
              <a:srgbClr val="315D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2935224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result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10528" y="3474720"/>
            <a:ext cx="4544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основной результат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36208" y="4224528"/>
            <a:ext cx="5074920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36208" y="4224528"/>
            <a:ext cx="73152" cy="1216152"/>
          </a:xfrm>
          <a:prstGeom prst="rect">
            <a:avLst/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4398264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metadata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10528" y="4937760"/>
            <a:ext cx="4544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метрики, время, логи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78992" y="588873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6717C"/>
                </a:solidFill>
              </a:rPr>
              <a:t>JSON — основной формат; для компактности и скорости могут применяться protobuf или msgpack.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1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8A42"/>
                </a:solidFill>
              </a:rPr>
              <a:t>ВЫПОЛНЕНИЕ РАБОТЫ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Инструменты и task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233172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C6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/ edit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17C"/>
                </a:solidFill>
              </a:rPr>
              <a:t>файлы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11296" y="1353312"/>
            <a:ext cx="233172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C6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5888" y="1645920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75888" y="208483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17C"/>
                </a:solidFill>
              </a:rPr>
              <a:t>команды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64224" y="1353312"/>
            <a:ext cx="233172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C6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1645920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28816" y="208483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17C"/>
                </a:solidFill>
              </a:rPr>
              <a:t>версии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17152" y="1353312"/>
            <a:ext cx="2331720" cy="1280160"/>
          </a:xfrm>
          <a:prstGeom prst="roundRect">
            <a:avLst/>
          </a:prstGeom>
          <a:solidFill>
            <a:srgbClr val="17324D"/>
          </a:solidFill>
          <a:ln w="15240">
            <a:solidFill>
              <a:srgbClr val="1732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81744" y="1645920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81744" y="2084832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5EA"/>
                </a:solidFill>
              </a:rPr>
              <a:t>субагенты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18211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8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8368" y="3657600"/>
            <a:ext cx="5532120" cy="1965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D2935"/>
                </a:solidFill>
              </a:rPr>
              <a:t>Запускает субагента в отдельной сессии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D2935"/>
                </a:solidFill>
              </a:rPr>
              <a:t>Передаёт подробное задание и получает итог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D2935"/>
                </a:solidFill>
              </a:rPr>
              <a:t>Позволяет продолжить ту же сессию по task_id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D2935"/>
                </a:solidFill>
              </a:rPr>
              <a:t>Доступ регулируется permission.task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48272" y="333756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task ≠ todowrite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748272" y="4078224"/>
            <a:ext cx="4297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D2935"/>
                </a:solidFill>
              </a:rPr>
              <a:t>task выполняет работу через субагента.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D2935"/>
                </a:solidFill>
              </a:rPr>
              <a:t>todowrite только ведёт список текущих шагов.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1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8A42"/>
                </a:solidFill>
              </a:rPr>
              <a:t>ИНТЕРФЕЙС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Команды: сценарий запуска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58952" y="1335024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38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856232" y="1399032"/>
            <a:ext cx="8915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Команда запускает повторяемый сценарий и передаёт агенту параметры подобно аргументам приложения.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78992" y="2834640"/>
            <a:ext cx="4709160" cy="1078992"/>
          </a:xfrm>
          <a:prstGeom prst="roundRect">
            <a:avLst/>
          </a:prstGeom>
          <a:solidFill>
            <a:srgbClr val="202A33"/>
          </a:solidFill>
          <a:ln w="12700">
            <a:solidFill>
              <a:srgbClr val="202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999232"/>
            <a:ext cx="43068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/sea-battle 12 20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651760" y="413308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17C"/>
                </a:solidFill>
              </a:rPr>
              <a:t>размер поля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87952" y="413308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17C"/>
                </a:solidFill>
              </a:rPr>
              <a:t>раунды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64408" y="3858768"/>
            <a:ext cx="0" cy="256032"/>
          </a:xfrm>
          <a:prstGeom prst="line">
            <a:avLst/>
          </a:prstGeom>
          <a:noFill/>
          <a:ln w="19050">
            <a:solidFill>
              <a:srgbClr val="B38A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3858768"/>
            <a:ext cx="0" cy="256032"/>
          </a:xfrm>
          <a:prstGeom prst="line">
            <a:avLst/>
          </a:prstGeom>
          <a:noFill/>
          <a:ln w="19050">
            <a:solidFill>
              <a:srgbClr val="B38A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2743200"/>
            <a:ext cx="4315968" cy="202996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935"/>
                </a:solidFill>
              </a:rPr>
              <a:t>единая точка входа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935"/>
                </a:solidFill>
              </a:rPr>
              <a:t>контролируемые аргументы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D2935"/>
                </a:solidFill>
              </a:rPr>
              <a:t>понятный способ демонстрации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56832" y="493776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717C"/>
                </a:solidFill>
              </a:rPr>
              <a:t>Встроенные примеры: /build и /plan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1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8A42"/>
                </a:solidFill>
              </a:rPr>
              <a:t>КОНФИГУРАЦИЯ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Настройка моделей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5596128" cy="1938528"/>
          </a:xfrm>
          <a:prstGeom prst="roundRect">
            <a:avLst/>
          </a:prstGeom>
          <a:solidFill>
            <a:srgbClr val="202A33"/>
          </a:solidFill>
          <a:ln w="12700">
            <a:solidFill>
              <a:srgbClr val="202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490472"/>
            <a:ext cx="519379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"$schema": "https://opencode.ai/config.json",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"provider/main-model",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"small_model": "provider/small-model"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3566160"/>
            <a:ext cx="5596128" cy="2029968"/>
          </a:xfrm>
          <a:prstGeom prst="roundRect">
            <a:avLst/>
          </a:prstGeom>
          <a:solidFill>
            <a:srgbClr val="202A33"/>
          </a:solidFill>
          <a:ln w="12700">
            <a:solidFill>
              <a:srgbClr val="202A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3730752"/>
            <a:ext cx="519379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"agent":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"plan":  { "model": "provider/model-a" },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"build": { "model": "provider/model-b"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7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75120" y="1325880"/>
            <a:ext cx="461772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0" y="1325880"/>
            <a:ext cx="73152" cy="1938528"/>
          </a:xfrm>
          <a:prstGeom prst="rect">
            <a:avLst/>
          </a:prstGeom>
          <a:solidFill>
            <a:srgbClr val="315D7C"/>
          </a:solidFill>
          <a:ln w="12700">
            <a:solidFill>
              <a:srgbClr val="315D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1499616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model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0" y="2039112"/>
            <a:ext cx="40873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Основная модель для содержательных запросов агента.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675120" y="3566160"/>
            <a:ext cx="4617720" cy="202996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75120" y="3566160"/>
            <a:ext cx="73152" cy="2029968"/>
          </a:xfrm>
          <a:prstGeom prst="rect">
            <a:avLst/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3739896"/>
            <a:ext cx="4142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small_model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49440" y="4279392"/>
            <a:ext cx="40873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Более экономичная модель для служебных операций: заголовков, кратких сводок и вспомогательных задач.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81328" y="5897880"/>
            <a:ext cx="9217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Модель можно задавать глобально, на уровне проекта или для конкретного агента.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1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8A42"/>
                </a:solidFill>
              </a:rPr>
              <a:t>ПРАКТИЧЕСКАЯ АРХИТЕКТУРА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Мультиагентный «Морской бой»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443984" y="1207008"/>
            <a:ext cx="3291840" cy="365760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Координатор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42816" y="16733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17C"/>
                </a:solidFill>
              </a:rPr>
              <a:t>управляет очередностью и журналом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89904" y="2039112"/>
            <a:ext cx="0" cy="521208"/>
          </a:xfrm>
          <a:prstGeom prst="line">
            <a:avLst/>
          </a:prstGeom>
          <a:noFill/>
          <a:ln w="25400">
            <a:solidFill>
              <a:srgbClr val="B38A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44368" y="2560320"/>
            <a:ext cx="6291072" cy="0"/>
          </a:xfrm>
          <a:prstGeom prst="line">
            <a:avLst/>
          </a:prstGeom>
          <a:noFill/>
          <a:ln w="25400">
            <a:solidFill>
              <a:srgbClr val="B38A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44368" y="2560320"/>
            <a:ext cx="0" cy="457200"/>
          </a:xfrm>
          <a:prstGeom prst="line">
            <a:avLst/>
          </a:prstGeom>
          <a:noFill/>
          <a:ln w="25400">
            <a:solidFill>
              <a:srgbClr val="B38A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2560320"/>
            <a:ext cx="0" cy="457200"/>
          </a:xfrm>
          <a:prstGeom prst="line">
            <a:avLst/>
          </a:prstGeom>
          <a:noFill/>
          <a:ln w="25400">
            <a:solidFill>
              <a:srgbClr val="B38A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3017520"/>
            <a:ext cx="33832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52728" y="3017520"/>
            <a:ext cx="73152" cy="1965960"/>
          </a:xfrm>
          <a:prstGeom prst="rect">
            <a:avLst/>
          </a:prstGeom>
          <a:solidFill>
            <a:srgbClr val="315D7C"/>
          </a:solidFill>
          <a:ln w="12700">
            <a:solidFill>
              <a:srgbClr val="315D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27048" y="3191256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Admiral blue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27048" y="3730752"/>
            <a:ext cx="285292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Отдельная сессия и скрытая карта. task_id сохраняется до конца партии.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543800" y="3017520"/>
            <a:ext cx="33832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543800" y="3017520"/>
            <a:ext cx="73152" cy="1965960"/>
          </a:xfrm>
          <a:prstGeom prst="rect">
            <a:avLst/>
          </a:prstGeom>
          <a:solidFill>
            <a:srgbClr val="567A5C"/>
          </a:solidFill>
          <a:ln w="12700">
            <a:solidFill>
              <a:srgbClr val="567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3191256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Admiral green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818120" y="3730752"/>
            <a:ext cx="285292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Отдельная сессия и скрытая карта. task_id сохраняется до конца партии.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43984" y="3136392"/>
            <a:ext cx="3291840" cy="365760"/>
          </a:xfrm>
          <a:prstGeom prst="rect">
            <a:avLst/>
          </a:prstGeom>
          <a:solidFill>
            <a:srgbClr val="B38A42"/>
          </a:solidFill>
          <a:ln>
            <a:solidFill>
              <a:srgbClr val="B38A4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DO_SHOT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43984" y="3703320"/>
            <a:ext cx="3291840" cy="365760"/>
          </a:xfrm>
          <a:prstGeom prst="rect">
            <a:avLst/>
          </a:prstGeom>
          <a:solidFill>
            <a:srgbClr val="315D7C"/>
          </a:solidFill>
          <a:ln>
            <a:solidFill>
              <a:srgbClr val="315D7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RECEIVE_SHOT x:y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43984" y="4270248"/>
            <a:ext cx="3291840" cy="365760"/>
          </a:xfrm>
          <a:prstGeom prst="rect">
            <a:avLst/>
          </a:prstGeom>
          <a:solidFill>
            <a:srgbClr val="397C78"/>
          </a:solidFill>
          <a:ln>
            <a:solidFill>
              <a:srgbClr val="397C7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SHOT_RESULT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5596128"/>
            <a:ext cx="10104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Изоляция контекста сохраняет секретность карт; обмен идёт только через протокольные команды.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1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8A42"/>
                </a:solidFill>
              </a:rPr>
              <a:t>ПРАКТИКА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Сценарий демонстрации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49808" y="1298448"/>
            <a:ext cx="566928" cy="566928"/>
          </a:xfrm>
          <a:prstGeom prst="ellipse">
            <a:avLst/>
          </a:prstGeom>
          <a:solidFill>
            <a:srgbClr val="1732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00200" y="131673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Версия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703320" y="1307592"/>
            <a:ext cx="72420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935"/>
                </a:solidFill>
              </a:rPr>
              <a:t>Показать агентов и монолитный opencode.json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33272" y="1901952"/>
            <a:ext cx="0" cy="493776"/>
          </a:xfrm>
          <a:prstGeom prst="line">
            <a:avLst/>
          </a:prstGeom>
          <a:noFill/>
          <a:ln w="25400">
            <a:solidFill>
              <a:srgbClr val="C9C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59736"/>
            <a:ext cx="566928" cy="566928"/>
          </a:xfrm>
          <a:prstGeom prst="ellipse">
            <a:avLst/>
          </a:prstGeom>
          <a:solidFill>
            <a:srgbClr val="1732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47802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Запуск команды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03320" y="2468880"/>
            <a:ext cx="72420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935"/>
                </a:solidFill>
              </a:rPr>
              <a:t>Выполнить /sea-battle и прокомментировать протокол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33272" y="3063240"/>
            <a:ext cx="0" cy="493776"/>
          </a:xfrm>
          <a:prstGeom prst="line">
            <a:avLst/>
          </a:prstGeom>
          <a:noFill/>
          <a:ln w="25400">
            <a:solidFill>
              <a:srgbClr val="C9C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621024"/>
            <a:ext cx="566928" cy="566928"/>
          </a:xfrm>
          <a:prstGeom prst="ellipse">
            <a:avLst/>
          </a:prstGeom>
          <a:solidFill>
            <a:srgbClr val="1732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363931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Версия 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3630168"/>
            <a:ext cx="72420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935"/>
                </a:solidFill>
              </a:rPr>
              <a:t>Сравнить число вызовов и оптимизированную логику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33272" y="4224528"/>
            <a:ext cx="0" cy="493776"/>
          </a:xfrm>
          <a:prstGeom prst="line">
            <a:avLst/>
          </a:prstGeom>
          <a:noFill/>
          <a:ln w="25400">
            <a:solidFill>
              <a:srgbClr val="C9C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782312"/>
            <a:ext cx="566928" cy="566928"/>
          </a:xfrm>
          <a:prstGeom prst="ellipse">
            <a:avLst/>
          </a:prstGeom>
          <a:solidFill>
            <a:srgbClr val="397C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800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Сессии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03320" y="4791456"/>
            <a:ext cx="72420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935"/>
                </a:solidFill>
              </a:rPr>
              <a:t>Показать повторное обращение по сохранённому task_id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57607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8A42"/>
                </a:solidFill>
              </a:rPr>
              <a:t>На что смотреть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87168" y="575157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17C"/>
                </a:solidFill>
              </a:rPr>
              <a:t>изоляция состояния • формат команд • журнал обмена • итоговая статистика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1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8A42"/>
                </a:solidFill>
              </a:rPr>
              <a:t>ИТОГИ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Ключевые выводы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3493008" cy="4343400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53312"/>
            <a:ext cx="73152" cy="4343400"/>
          </a:xfrm>
          <a:prstGeom prst="rect">
            <a:avLst/>
          </a:prstGeom>
          <a:solidFill>
            <a:srgbClr val="B38A42"/>
          </a:solidFill>
          <a:ln w="12700">
            <a:solidFill>
              <a:srgbClr val="B38A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36192"/>
            <a:ext cx="475488" cy="475488"/>
          </a:xfrm>
          <a:prstGeom prst="ellipse">
            <a:avLst/>
          </a:prstGeom>
          <a:solidFill>
            <a:srgbClr val="B38A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499616" y="152704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Контекст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2066544"/>
            <a:ext cx="2962656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LLM видит только переданный рабочий срез. Состояние сессии и долговременная память управляются внешними компонентами.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52544" y="1353312"/>
            <a:ext cx="3493008" cy="4343400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2544" y="1353312"/>
            <a:ext cx="73152" cy="4343400"/>
          </a:xfrm>
          <a:prstGeom prst="rect">
            <a:avLst/>
          </a:prstGeom>
          <a:solidFill>
            <a:srgbClr val="315D7C"/>
          </a:solidFill>
          <a:ln w="12700">
            <a:solidFill>
              <a:srgbClr val="315D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536192"/>
            <a:ext cx="475488" cy="475488"/>
          </a:xfrm>
          <a:prstGeom prst="ellipse">
            <a:avLst/>
          </a:prstGeom>
          <a:solidFill>
            <a:srgbClr val="315D7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5193792" y="152704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Оркестрация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26864" y="2066544"/>
            <a:ext cx="2962656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Агенты разделяют роли и контексты; команды и структурированный протокол делают взаимодействие управляемым.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1353312"/>
            <a:ext cx="3493008" cy="4343400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12700">
            <a:solidFill>
              <a:srgbClr val="D8D2C8"/>
            </a:solidFill>
            <a:prstDash val="solid"/>
          </a:ln>
          <a:effectLst>
            <a:outerShdw sx="100000" sy="100000" kx="0" ky="0" algn="bl" rotWithShape="0" blurRad="19050" dist="50800" dir="2700000">
              <a:srgbClr val="9A958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353312"/>
            <a:ext cx="73152" cy="4343400"/>
          </a:xfrm>
          <a:prstGeom prst="rect">
            <a:avLst/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536192"/>
            <a:ext cx="475488" cy="475488"/>
          </a:xfrm>
          <a:prstGeom prst="ellipse">
            <a:avLst/>
          </a:prstGeom>
          <a:solidFill>
            <a:srgbClr val="397C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887968" y="152704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Практика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2066544"/>
            <a:ext cx="2962656" cy="344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D2935"/>
                </a:solidFill>
              </a:rPr>
              <a:t>Инструкции, права инструментов и постоянные ID сессий позволяют построить приложение почти полностью из сущностей OpenCode.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61872" y="5907024"/>
            <a:ext cx="9674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ИИ-система — это не только модель, но и архитектура контекста, инструментов и проверяемых контрактов.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1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657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38A42"/>
                </a:solidFill>
              </a:rPr>
              <a:t>МАТЕРИАЛЫ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Источники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13232" y="1234440"/>
            <a:ext cx="10835640" cy="385876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1D2935"/>
                </a:solidFill>
              </a:rPr>
              <a:t>Официальная документация OpenCode — https://opencode.ai/docs/ru/</a:t>
            </a:r>
            <a:endParaRPr lang="en-US" sz="1650" dirty="0"/>
          </a:p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1D2935"/>
                </a:solidFill>
              </a:rPr>
              <a:t>Документация команд — https://open-code.ai/ru/docs/commands</a:t>
            </a:r>
            <a:endParaRPr lang="en-US" sz="1650" dirty="0"/>
          </a:p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1D2935"/>
                </a:solidFill>
              </a:rPr>
              <a:t>Руководство DataTalks — https://datatalks.ru/opencode/index.html</a:t>
            </a:r>
            <a:endParaRPr lang="en-US" sz="1650" dirty="0"/>
          </a:p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1D2935"/>
                </a:solidFill>
              </a:rPr>
              <a:t>Репозиторий проекта — https://github.com/kit-1414/ai_sea_battle_.git</a:t>
            </a:r>
            <a:endParaRPr lang="en-US" sz="1650" dirty="0"/>
          </a:p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1D2935"/>
                </a:solidFill>
              </a:rPr>
              <a:t>OpenCode GitHub — https://github.com/anomalyco/opencode</a:t>
            </a:r>
            <a:endParaRPr lang="en-US" sz="1650" dirty="0"/>
          </a:p>
          <a:p>
            <a:pPr marL="209550" indent="-209550">
              <a:buSzPct val="100000"/>
              <a:buChar char="•"/>
            </a:pPr>
            <a:r>
              <a:rPr lang="en-US" sz="1650" dirty="0">
                <a:solidFill>
                  <a:srgbClr val="1D2935"/>
                </a:solidFill>
              </a:rPr>
              <a:t>OpenAI Python GitHub — https://github.com/openai/openai-python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13232" y="5276088"/>
            <a:ext cx="10808208" cy="621792"/>
          </a:xfrm>
          <a:prstGeom prst="roundRect">
            <a:avLst/>
          </a:prstGeom>
          <a:solidFill>
            <a:srgbClr val="E7ECEF"/>
          </a:solidFill>
          <a:ln w="12700">
            <a:solidFill>
              <a:srgbClr val="CBD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5468112"/>
            <a:ext cx="10314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17C"/>
                </a:solidFill>
              </a:rPr>
              <a:t>Изображения в презентации: нейтральные карточки GitHub Open Graph соответствующих репозиториев.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47104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17C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Учебный проект «Морской бой»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Использование ИИ в разработке</dc:title>
  <dc:subject>Использование ИИ в разработке: OpenCode и ChatGPT</dc:subject>
  <dc:creator>OpenCode</dc:creator>
  <cp:lastModifiedBy>OpenCode</cp:lastModifiedBy>
  <cp:revision>1</cp:revision>
  <dcterms:created xsi:type="dcterms:W3CDTF">2026-09-15T19:20:42Z</dcterms:created>
  <dcterms:modified xsi:type="dcterms:W3CDTF">2026-09-15T19:20:42Z</dcterms:modified>
</cp:coreProperties>
</file>