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opencode.ai/docs/ru/" TargetMode="External"/><Relationship Id="rId3" Type="http://schemas.openxmlformats.org/officeDocument/2006/relationships/hyperlink" Target="https://open-code.ai/ru/docs/commands" TargetMode="External"/><Relationship Id="rId4" Type="http://schemas.openxmlformats.org/officeDocument/2006/relationships/hyperlink" Target="https://datatalks.ru/opencode/index.html" TargetMode="External"/><Relationship Id="rId5" Type="http://schemas.openxmlformats.org/officeDocument/2006/relationships/hyperlink" Target="https://github.com/kit-1414/ai_sea_battle_.git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E1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itle_1100x13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0"/>
            <a:ext cx="469361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40080" y="594360"/>
            <a:ext cx="1143000" cy="310896"/>
          </a:xfrm>
          <a:prstGeom prst="roundRect">
            <a:avLst/>
          </a:prstGeom>
          <a:solidFill>
            <a:srgbClr val="19253E"/>
          </a:solidFill>
          <a:ln w="12700">
            <a:solidFill>
              <a:srgbClr val="35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12648"/>
            <a:ext cx="1143000" cy="22860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35D3FF"/>
                </a:solidFill>
                <a:latin typeface="Aptos"/>
              </a:rPr>
              <a:t>ДОКЛАД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6583680" cy="1463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>
                <a:solidFill>
                  <a:srgbClr val="F4F7FC"/>
                </a:solidFill>
                <a:latin typeface="Aptos Display"/>
              </a:rPr>
              <a:t>Использование ИИ
в разработке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3108960"/>
            <a:ext cx="6126480" cy="4572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35D3FF"/>
                </a:solidFill>
                <a:latin typeface="Aptos"/>
              </a:rPr>
              <a:t>OpenCode, агенты и управление контекстом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840480"/>
            <a:ext cx="5943600" cy="4114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AFBED6"/>
                </a:solidFill>
                <a:latin typeface="Aptos"/>
              </a:rPr>
              <a:t>Практический пример: приложение «Морской бой»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108192"/>
            <a:ext cx="9144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67997"/>
                </a:solidFill>
                <a:latin typeface="Aptos"/>
              </a:rPr>
              <a:t>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0" y="6492240"/>
            <a:ext cx="274320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AFBED6"/>
                </a:solidFill>
                <a:latin typeface="Aptos"/>
              </a:rPr>
              <a:t>Источник: OpenCode / GitHub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E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41148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5D3FF"/>
                </a:solidFill>
                <a:latin typeface="Aptos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347472"/>
            <a:ext cx="32004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667997"/>
                </a:solidFill>
                <a:latin typeface="Aptos"/>
              </a:rPr>
              <a:t>ВВЕДЕНИЕ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31520"/>
            <a:ext cx="11064240" cy="53035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4F7FC"/>
                </a:solidFill>
                <a:latin typeface="Aptos Display"/>
              </a:rPr>
              <a:t>Цель доклада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25880"/>
            <a:ext cx="11173968" cy="16459"/>
          </a:xfrm>
          <a:prstGeom prst="rect">
            <a:avLst/>
          </a:prstGeom>
          <a:solidFill>
            <a:srgbClr val="2A3A58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365760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67997"/>
                </a:solidFill>
                <a:latin typeface="Aptos"/>
              </a:rPr>
              <a:t>Использование ИИ в разработке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92240"/>
            <a:ext cx="45720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67997"/>
                </a:solidFill>
                <a:latin typeface="Aptos"/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91640"/>
            <a:ext cx="5212080" cy="1508760"/>
          </a:xfrm>
          <a:prstGeom prst="roundRect">
            <a:avLst/>
          </a:prstGeom>
          <a:solidFill>
            <a:srgbClr val="141D32"/>
          </a:solidFill>
          <a:ln w="12700">
            <a:solidFill>
              <a:srgbClr val="2A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691640"/>
            <a:ext cx="50292" cy="1508760"/>
          </a:xfrm>
          <a:prstGeom prst="rect">
            <a:avLst/>
          </a:prstGeom>
          <a:solidFill>
            <a:srgbClr val="35D3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74520"/>
            <a:ext cx="41148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5D3FF"/>
                </a:solidFill>
                <a:latin typeface="Apto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8448" y="1856232"/>
            <a:ext cx="4370832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4F7FC"/>
                </a:solidFill>
                <a:latin typeface="Aptos"/>
              </a:rPr>
              <a:t>Сущности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377440"/>
            <a:ext cx="4709160" cy="685799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AFBED6"/>
                </a:solidFill>
                <a:latin typeface="Aptos"/>
              </a:rPr>
              <a:t>Инструкции, агенты, команды и инструменты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691640"/>
            <a:ext cx="5212080" cy="1508760"/>
          </a:xfrm>
          <a:prstGeom prst="roundRect">
            <a:avLst/>
          </a:prstGeom>
          <a:solidFill>
            <a:srgbClr val="141D32"/>
          </a:solidFill>
          <a:ln w="12700">
            <a:solidFill>
              <a:srgbClr val="2A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691640"/>
            <a:ext cx="50292" cy="1508760"/>
          </a:xfrm>
          <a:prstGeom prst="rect">
            <a:avLst/>
          </a:prstGeom>
          <a:solidFill>
            <a:srgbClr val="4169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874520"/>
            <a:ext cx="41148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4169FF"/>
                </a:solidFill>
                <a:latin typeface="Apto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22008" y="1856232"/>
            <a:ext cx="4370832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4F7FC"/>
                </a:solidFill>
                <a:latin typeface="Aptos"/>
              </a:rPr>
              <a:t>Контекст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9672" y="2377440"/>
            <a:ext cx="4709160" cy="685799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AFBED6"/>
                </a:solidFill>
                <a:latin typeface="Aptos"/>
              </a:rPr>
              <a:t>Хранение, передача и ограничения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630168"/>
            <a:ext cx="5212080" cy="1508760"/>
          </a:xfrm>
          <a:prstGeom prst="roundRect">
            <a:avLst/>
          </a:prstGeom>
          <a:solidFill>
            <a:srgbClr val="141D32"/>
          </a:solidFill>
          <a:ln w="12700">
            <a:solidFill>
              <a:srgbClr val="2A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3630168"/>
            <a:ext cx="50292" cy="1508760"/>
          </a:xfrm>
          <a:prstGeom prst="rect">
            <a:avLst/>
          </a:prstGeom>
          <a:solidFill>
            <a:srgbClr val="975B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813048"/>
            <a:ext cx="41148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975BFF"/>
                </a:solidFill>
                <a:latin typeface="Apto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98448" y="3794760"/>
            <a:ext cx="4370832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4F7FC"/>
                </a:solidFill>
                <a:latin typeface="Aptos"/>
              </a:rPr>
              <a:t>Агенты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" y="4315968"/>
            <a:ext cx="4709160" cy="685799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AFBED6"/>
                </a:solidFill>
                <a:latin typeface="Aptos"/>
              </a:rPr>
              <a:t>Распределение работы между исполнителями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3630168"/>
            <a:ext cx="5212080" cy="1508760"/>
          </a:xfrm>
          <a:prstGeom prst="roundRect">
            <a:avLst/>
          </a:prstGeom>
          <a:solidFill>
            <a:srgbClr val="141D32"/>
          </a:solidFill>
          <a:ln w="12700">
            <a:solidFill>
              <a:srgbClr val="2A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63640" y="3630168"/>
            <a:ext cx="50292" cy="1508760"/>
          </a:xfrm>
          <a:prstGeom prst="rect">
            <a:avLst/>
          </a:prstGeom>
          <a:solidFill>
            <a:srgbClr val="4FDDA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3813048"/>
            <a:ext cx="41148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4FDDAE"/>
                </a:solidFill>
                <a:latin typeface="Aptos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22008" y="3794760"/>
            <a:ext cx="4370832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4F7FC"/>
                </a:solidFill>
                <a:latin typeface="Aptos"/>
              </a:rPr>
              <a:t>Модели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19672" y="4315968"/>
            <a:ext cx="4709160" cy="685799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AFBED6"/>
                </a:solidFill>
                <a:latin typeface="Aptos"/>
              </a:rPr>
              <a:t>Выбор модели под сложность задачи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5715000"/>
            <a:ext cx="1143000" cy="310896"/>
          </a:xfrm>
          <a:prstGeom prst="roundRect">
            <a:avLst/>
          </a:prstGeom>
          <a:solidFill>
            <a:srgbClr val="19253E"/>
          </a:solidFill>
          <a:ln w="12700">
            <a:solidFill>
              <a:srgbClr val="F7B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5733288"/>
            <a:ext cx="1143000" cy="22860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7BA4A"/>
                </a:solidFill>
                <a:latin typeface="Aptos"/>
              </a:rPr>
              <a:t>ПРАКТИКА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57400" y="5678424"/>
            <a:ext cx="859536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F4F7FC"/>
                </a:solidFill>
                <a:latin typeface="Aptos"/>
              </a:rPr>
              <a:t>Все понятия рассматриваются на примере тестового проекта.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E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41148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5D3FF"/>
                </a:solidFill>
                <a:latin typeface="Aptos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347472"/>
            <a:ext cx="32004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667997"/>
                </a:solidFill>
                <a:latin typeface="Aptos"/>
              </a:rPr>
              <a:t>ПРОЕКТ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31520"/>
            <a:ext cx="11064240" cy="53035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4F7FC"/>
                </a:solidFill>
                <a:latin typeface="Aptos Display"/>
              </a:rPr>
              <a:t>Тестовый проект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25880"/>
            <a:ext cx="11173968" cy="16459"/>
          </a:xfrm>
          <a:prstGeom prst="rect">
            <a:avLst/>
          </a:prstGeom>
          <a:solidFill>
            <a:srgbClr val="2A3A58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365760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67997"/>
                </a:solidFill>
                <a:latin typeface="Aptos"/>
              </a:rPr>
              <a:t>Использование ИИ в разработке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92240"/>
            <a:ext cx="45720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67997"/>
                </a:solidFill>
                <a:latin typeface="Aptos"/>
              </a:rPr>
              <a:t>3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847088"/>
            <a:ext cx="91440" cy="91440"/>
          </a:xfrm>
          <a:prstGeom prst="ellipse">
            <a:avLst/>
          </a:prstGeom>
          <a:solidFill>
            <a:srgbClr val="35D3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1737360"/>
            <a:ext cx="5440680" cy="7132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F4F7FC"/>
                </a:solidFill>
                <a:latin typeface="Aptos"/>
              </a:rPr>
              <a:t>Два ИИ-агента реализуют логику классической игры.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2560320"/>
            <a:ext cx="91440" cy="91440"/>
          </a:xfrm>
          <a:prstGeom prst="ellipse">
            <a:avLst/>
          </a:prstGeom>
          <a:solidFill>
            <a:srgbClr val="35D3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2450591"/>
            <a:ext cx="5440680" cy="7132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F4F7FC"/>
                </a:solidFill>
                <a:latin typeface="Aptos"/>
              </a:rPr>
              <a:t>Поведение определяется инструкциями и конфигурацией.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3273552"/>
            <a:ext cx="91440" cy="91440"/>
          </a:xfrm>
          <a:prstGeom prst="ellipse">
            <a:avLst/>
          </a:prstGeom>
          <a:solidFill>
            <a:srgbClr val="35D3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" y="3163824"/>
            <a:ext cx="5440680" cy="7132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F4F7FC"/>
                </a:solidFill>
                <a:latin typeface="Aptos"/>
              </a:rPr>
              <a:t>Проект демонстрирует взаимодействие агентов OpenCode.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3986784"/>
            <a:ext cx="91440" cy="91440"/>
          </a:xfrm>
          <a:prstGeom prst="ellipse">
            <a:avLst/>
          </a:prstGeom>
          <a:solidFill>
            <a:srgbClr val="35D3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6968" y="3877056"/>
            <a:ext cx="5440680" cy="7132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F4F7FC"/>
                </a:solidFill>
                <a:latin typeface="Aptos"/>
              </a:rPr>
              <a:t>Основное внимание уделяется агентной логике, а не коду.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75120" y="1664208"/>
            <a:ext cx="4846320" cy="4224528"/>
          </a:xfrm>
          <a:prstGeom prst="roundRect">
            <a:avLst/>
          </a:prstGeom>
          <a:solidFill>
            <a:srgbClr val="141D32"/>
          </a:solidFill>
          <a:ln w="12700">
            <a:solidFill>
              <a:srgbClr val="2A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project_954x83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2552" y="1691640"/>
            <a:ext cx="4791456" cy="4169664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6702552" y="5495544"/>
            <a:ext cx="4791456" cy="365760"/>
          </a:xfrm>
          <a:prstGeom prst="rect">
            <a:avLst/>
          </a:prstGeom>
          <a:solidFill>
            <a:srgbClr val="0D1527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0" y="5568696"/>
            <a:ext cx="4480559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AFBED6"/>
                </a:solidFill>
                <a:latin typeface="Aptos"/>
              </a:rPr>
              <a:t>Источник: официальный репозиторий OpenCode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5303520"/>
            <a:ext cx="1600200" cy="310896"/>
          </a:xfrm>
          <a:prstGeom prst="roundRect">
            <a:avLst/>
          </a:prstGeom>
          <a:solidFill>
            <a:srgbClr val="19253E"/>
          </a:solidFill>
          <a:ln w="12700">
            <a:solidFill>
              <a:srgbClr val="97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5321807"/>
            <a:ext cx="1600200" cy="22860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975BFF"/>
                </a:solidFill>
                <a:latin typeface="Aptos"/>
              </a:rPr>
              <a:t>УЧЕБНЫЙ СТЕНД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14600" y="5257800"/>
            <a:ext cx="3886200" cy="5943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AFBED6"/>
                </a:solidFill>
                <a:latin typeface="Aptos"/>
              </a:rPr>
              <a:t>Минимальная предметная область позволяет сосредоточиться на механике OpenCode.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E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41148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5D3FF"/>
                </a:solidFill>
                <a:latin typeface="Aptos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347472"/>
            <a:ext cx="32004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667997"/>
                </a:solidFill>
                <a:latin typeface="Aptos"/>
              </a:rPr>
              <a:t>ПРОЕКТ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31520"/>
            <a:ext cx="11064240" cy="53035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4F7FC"/>
                </a:solidFill>
                <a:latin typeface="Aptos Display"/>
              </a:rPr>
              <a:t>Три версии проекта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25880"/>
            <a:ext cx="11173968" cy="16459"/>
          </a:xfrm>
          <a:prstGeom prst="rect">
            <a:avLst/>
          </a:prstGeom>
          <a:solidFill>
            <a:srgbClr val="2A3A58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365760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67997"/>
                </a:solidFill>
                <a:latin typeface="Aptos"/>
              </a:rPr>
              <a:t>Использование ИИ в разработке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92240"/>
            <a:ext cx="45720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67997"/>
                </a:solidFill>
                <a:latin typeface="Aptos"/>
              </a:rP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28800"/>
            <a:ext cx="3337560" cy="2514600"/>
          </a:xfrm>
          <a:prstGeom prst="roundRect">
            <a:avLst/>
          </a:prstGeom>
          <a:solidFill>
            <a:srgbClr val="141D32"/>
          </a:solidFill>
          <a:ln w="12700">
            <a:solidFill>
              <a:srgbClr val="2A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50292" cy="2514600"/>
          </a:xfrm>
          <a:prstGeom prst="rect">
            <a:avLst/>
          </a:prstGeom>
          <a:solidFill>
            <a:srgbClr val="35D3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011680"/>
            <a:ext cx="41148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5D3FF"/>
                </a:solidFill>
                <a:latin typeface="Apto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1993392"/>
            <a:ext cx="2496311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4F7FC"/>
                </a:solidFill>
                <a:latin typeface="Aptos"/>
              </a:rPr>
              <a:t>Версия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2514600"/>
            <a:ext cx="2834639" cy="16916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AFBED6"/>
                </a:solidFill>
                <a:latin typeface="Aptos"/>
              </a:rPr>
              <a:t>Произвольная структура
Вся конфигурация в opencode.json</a:t>
            </a:r>
          </a:p>
        </p:txBody>
      </p:sp>
      <p:sp>
        <p:nvSpPr>
          <p:cNvPr id="13" name="Chevron 12"/>
          <p:cNvSpPr/>
          <p:nvPr/>
        </p:nvSpPr>
        <p:spPr>
          <a:xfrm>
            <a:off x="4123944" y="2907792"/>
            <a:ext cx="274320" cy="365760"/>
          </a:xfrm>
          <a:prstGeom prst="chevron">
            <a:avLst/>
          </a:prstGeom>
          <a:solidFill>
            <a:srgbClr val="667997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26280" y="1828800"/>
            <a:ext cx="3337560" cy="2514600"/>
          </a:xfrm>
          <a:prstGeom prst="roundRect">
            <a:avLst/>
          </a:prstGeom>
          <a:solidFill>
            <a:srgbClr val="141D32"/>
          </a:solidFill>
          <a:ln w="12700">
            <a:solidFill>
              <a:srgbClr val="2A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26280" y="1828800"/>
            <a:ext cx="50292" cy="2514600"/>
          </a:xfrm>
          <a:prstGeom prst="rect">
            <a:avLst/>
          </a:prstGeom>
          <a:solidFill>
            <a:srgbClr val="4169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0" y="2011680"/>
            <a:ext cx="41148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4169FF"/>
                </a:solidFill>
                <a:latin typeface="Apto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84648" y="1993392"/>
            <a:ext cx="2496312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4F7FC"/>
                </a:solidFill>
                <a:latin typeface="Aptos"/>
              </a:rPr>
              <a:t>Версия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82312" y="2514600"/>
            <a:ext cx="2834639" cy="16916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AFBED6"/>
                </a:solidFill>
                <a:latin typeface="Aptos"/>
              </a:rPr>
              <a:t>Структура адаптирована
под соглашения OpenCode</a:t>
            </a:r>
          </a:p>
        </p:txBody>
      </p:sp>
      <p:sp>
        <p:nvSpPr>
          <p:cNvPr id="19" name="Chevron 18"/>
          <p:cNvSpPr/>
          <p:nvPr/>
        </p:nvSpPr>
        <p:spPr>
          <a:xfrm>
            <a:off x="7964424" y="2907792"/>
            <a:ext cx="274320" cy="365760"/>
          </a:xfrm>
          <a:prstGeom prst="chevron">
            <a:avLst/>
          </a:prstGeom>
          <a:solidFill>
            <a:srgbClr val="667997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366760" y="1828800"/>
            <a:ext cx="3337560" cy="2514600"/>
          </a:xfrm>
          <a:prstGeom prst="roundRect">
            <a:avLst/>
          </a:prstGeom>
          <a:solidFill>
            <a:srgbClr val="141D32"/>
          </a:solidFill>
          <a:ln w="12700">
            <a:solidFill>
              <a:srgbClr val="2A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366760" y="1828800"/>
            <a:ext cx="50292" cy="2514600"/>
          </a:xfrm>
          <a:prstGeom prst="rect">
            <a:avLst/>
          </a:prstGeom>
          <a:solidFill>
            <a:srgbClr val="975B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95360" y="2011680"/>
            <a:ext cx="41148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975BFF"/>
                </a:solidFill>
                <a:latin typeface="Aptos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25128" y="1993392"/>
            <a:ext cx="2496311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4F7FC"/>
                </a:solidFill>
                <a:latin typeface="Aptos"/>
              </a:rPr>
              <a:t>Версия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22792" y="2514600"/>
            <a:ext cx="2834639" cy="16916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AFBED6"/>
                </a:solidFill>
                <a:latin typeface="Aptos"/>
              </a:rPr>
              <a:t>Оптимизированы логика
и число вызовов агентов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5074920"/>
            <a:ext cx="10058400" cy="4114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0">
                <a:solidFill>
                  <a:srgbClr val="F4F7FC"/>
                </a:solidFill>
                <a:latin typeface="Aptos"/>
              </a:rPr>
              <a:t>От эксперимента с конфигурацией к более управляемой архитектуре.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E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41148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5D3FF"/>
                </a:solidFill>
                <a:latin typeface="Aptos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347472"/>
            <a:ext cx="32004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667997"/>
                </a:solidFill>
                <a:latin typeface="Aptos"/>
              </a:rPr>
              <a:t>АРХИТЕКТУРА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31520"/>
            <a:ext cx="11064240" cy="53035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4F7FC"/>
                </a:solidFill>
                <a:latin typeface="Aptos Display"/>
              </a:rPr>
              <a:t>Основные сущности OpenCode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25880"/>
            <a:ext cx="11173968" cy="16459"/>
          </a:xfrm>
          <a:prstGeom prst="rect">
            <a:avLst/>
          </a:prstGeom>
          <a:solidFill>
            <a:srgbClr val="2A3A58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365760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67997"/>
                </a:solidFill>
                <a:latin typeface="Aptos"/>
              </a:rPr>
              <a:t>Использование ИИ в разработке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92240"/>
            <a:ext cx="45720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67997"/>
                </a:solidFill>
                <a:latin typeface="Aptos"/>
              </a:rP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17720" y="2468880"/>
            <a:ext cx="2926080" cy="1051560"/>
          </a:xfrm>
          <a:prstGeom prst="roundRect">
            <a:avLst/>
          </a:prstGeom>
          <a:solidFill>
            <a:srgbClr val="141D32"/>
          </a:solidFill>
          <a:ln w="12700">
            <a:solidFill>
              <a:srgbClr val="F4F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00600" y="2633472"/>
            <a:ext cx="2560320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4F7FC"/>
                </a:solidFill>
                <a:latin typeface="Aptos"/>
              </a:rPr>
              <a:t>opencode.json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600" y="3108960"/>
            <a:ext cx="2560320" cy="320039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AFBED6"/>
                </a:solidFill>
                <a:latin typeface="Aptos"/>
              </a:rPr>
              <a:t>Конфигурация проекта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691640"/>
            <a:ext cx="2971800" cy="1143000"/>
          </a:xfrm>
          <a:prstGeom prst="roundRect">
            <a:avLst/>
          </a:prstGeom>
          <a:solidFill>
            <a:srgbClr val="141D32"/>
          </a:solidFill>
          <a:ln w="12700">
            <a:solidFill>
              <a:srgbClr val="35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1856232"/>
            <a:ext cx="2606040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4F7FC"/>
                </a:solidFill>
                <a:latin typeface="Aptos"/>
              </a:rPr>
              <a:t>instructions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331720"/>
            <a:ext cx="2606040" cy="411479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AFBED6"/>
                </a:solidFill>
                <a:latin typeface="Aptos"/>
              </a:rPr>
              <a:t>Знания и правила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03920" y="1691640"/>
            <a:ext cx="2971800" cy="1143000"/>
          </a:xfrm>
          <a:prstGeom prst="roundRect">
            <a:avLst/>
          </a:prstGeom>
          <a:solidFill>
            <a:srgbClr val="141D32"/>
          </a:solidFill>
          <a:ln w="12700">
            <a:solidFill>
              <a:srgbClr val="97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0" y="1856232"/>
            <a:ext cx="2606040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4F7FC"/>
                </a:solidFill>
                <a:latin typeface="Aptos"/>
              </a:rPr>
              <a:t>agents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2331720"/>
            <a:ext cx="2606040" cy="411479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AFBED6"/>
                </a:solidFill>
                <a:latin typeface="Aptos"/>
              </a:rPr>
              <a:t>Агенты и субагенты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160520"/>
            <a:ext cx="2971800" cy="1143000"/>
          </a:xfrm>
          <a:prstGeom prst="roundRect">
            <a:avLst/>
          </a:prstGeom>
          <a:solidFill>
            <a:srgbClr val="141D32"/>
          </a:solidFill>
          <a:ln w="12700">
            <a:solidFill>
              <a:srgbClr val="41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325112"/>
            <a:ext cx="2606040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4F7FC"/>
                </a:solidFill>
                <a:latin typeface="Aptos"/>
              </a:rPr>
              <a:t>commands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800600"/>
            <a:ext cx="2606040" cy="411479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AFBED6"/>
                </a:solidFill>
                <a:latin typeface="Aptos"/>
              </a:rPr>
              <a:t>Сценарии запуска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03920" y="4160520"/>
            <a:ext cx="2971800" cy="1143000"/>
          </a:xfrm>
          <a:prstGeom prst="roundRect">
            <a:avLst/>
          </a:prstGeom>
          <a:solidFill>
            <a:srgbClr val="141D32"/>
          </a:solidFill>
          <a:ln w="12700">
            <a:solidFill>
              <a:srgbClr val="4FDD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0" y="4325112"/>
            <a:ext cx="2606040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4F7FC"/>
                </a:solidFill>
                <a:latin typeface="Aptos"/>
              </a:rPr>
              <a:t>tools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4800600"/>
            <a:ext cx="2606040" cy="411479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AFBED6"/>
                </a:solidFill>
                <a:latin typeface="Aptos"/>
              </a:rPr>
              <a:t>Действия во внешней среде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77639" y="2148840"/>
            <a:ext cx="457200" cy="4572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35D3FF"/>
                </a:solidFill>
                <a:latin typeface="Aptos"/>
              </a:rPr>
              <a:t>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2148840"/>
            <a:ext cx="457200" cy="4572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975BFF"/>
                </a:solidFill>
                <a:latin typeface="Aptos"/>
              </a:rPr>
              <a:t>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77639" y="4160520"/>
            <a:ext cx="457200" cy="4572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4169FF"/>
                </a:solidFill>
                <a:latin typeface="Aptos"/>
              </a:rPr>
              <a:t>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0" y="4160520"/>
            <a:ext cx="457200" cy="4572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4FDDAE"/>
                </a:solidFill>
                <a:latin typeface="Aptos"/>
              </a:rPr>
              <a:t>↖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0" y="5760720"/>
            <a:ext cx="859536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0">
                <a:solidFill>
                  <a:srgbClr val="AFBED6"/>
                </a:solidFill>
                <a:latin typeface="Aptos"/>
              </a:rPr>
              <a:t>Конфигурация связывает знания, исполнителей и доступные действия.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E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41148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5D3FF"/>
                </a:solidFill>
                <a:latin typeface="Aptos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347472"/>
            <a:ext cx="32004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667997"/>
                </a:solidFill>
                <a:latin typeface="Aptos"/>
              </a:rPr>
              <a:t>КОНТЕКСТ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31520"/>
            <a:ext cx="11064240" cy="53035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4F7FC"/>
                </a:solidFill>
                <a:latin typeface="Aptos Display"/>
              </a:rPr>
              <a:t>Что такое контекст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25880"/>
            <a:ext cx="11173968" cy="16459"/>
          </a:xfrm>
          <a:prstGeom prst="rect">
            <a:avLst/>
          </a:prstGeom>
          <a:solidFill>
            <a:srgbClr val="2A3A58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365760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67997"/>
                </a:solidFill>
                <a:latin typeface="Aptos"/>
              </a:rPr>
              <a:t>Использование ИИ в разработке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92240"/>
            <a:ext cx="45720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67997"/>
                </a:solidFill>
                <a:latin typeface="Aptos"/>
              </a:rP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737360"/>
            <a:ext cx="3337560" cy="1463040"/>
          </a:xfrm>
          <a:prstGeom prst="roundRect">
            <a:avLst/>
          </a:prstGeom>
          <a:solidFill>
            <a:srgbClr val="141D32"/>
          </a:solidFill>
          <a:ln w="12700">
            <a:solidFill>
              <a:srgbClr val="2A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737360"/>
            <a:ext cx="50292" cy="1463040"/>
          </a:xfrm>
          <a:prstGeom prst="rect">
            <a:avLst/>
          </a:prstGeom>
          <a:solidFill>
            <a:srgbClr val="35D3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1901952"/>
            <a:ext cx="2898648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4F7FC"/>
                </a:solidFill>
                <a:latin typeface="Aptos"/>
              </a:rPr>
              <a:t>Инструкции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2423160"/>
            <a:ext cx="2834639" cy="6400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AFBED6"/>
                </a:solidFill>
                <a:latin typeface="Aptos"/>
              </a:rPr>
              <a:t>Правила и ограничения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26280" y="1737360"/>
            <a:ext cx="3337560" cy="1463040"/>
          </a:xfrm>
          <a:prstGeom prst="roundRect">
            <a:avLst/>
          </a:prstGeom>
          <a:solidFill>
            <a:srgbClr val="141D32"/>
          </a:solidFill>
          <a:ln w="12700">
            <a:solidFill>
              <a:srgbClr val="2A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26280" y="1737360"/>
            <a:ext cx="50292" cy="1463040"/>
          </a:xfrm>
          <a:prstGeom prst="rect">
            <a:avLst/>
          </a:prstGeom>
          <a:solidFill>
            <a:srgbClr val="4169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82312" y="1901952"/>
            <a:ext cx="2898647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4F7FC"/>
                </a:solidFill>
                <a:latin typeface="Aptos"/>
              </a:rPr>
              <a:t>Сообщения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82312" y="2423160"/>
            <a:ext cx="2834639" cy="6400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AFBED6"/>
                </a:solidFill>
                <a:latin typeface="Aptos"/>
              </a:rPr>
              <a:t>История взаимодействия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66760" y="1737360"/>
            <a:ext cx="3337560" cy="1463040"/>
          </a:xfrm>
          <a:prstGeom prst="roundRect">
            <a:avLst/>
          </a:prstGeom>
          <a:solidFill>
            <a:srgbClr val="141D32"/>
          </a:solidFill>
          <a:ln w="12700">
            <a:solidFill>
              <a:srgbClr val="2A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366760" y="1737360"/>
            <a:ext cx="50292" cy="1463040"/>
          </a:xfrm>
          <a:prstGeom prst="rect">
            <a:avLst/>
          </a:prstGeom>
          <a:solidFill>
            <a:srgbClr val="975B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22792" y="1901952"/>
            <a:ext cx="2898648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4F7FC"/>
                </a:solidFill>
                <a:latin typeface="Aptos"/>
              </a:rPr>
              <a:t>Файлы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22792" y="2423160"/>
            <a:ext cx="2834639" cy="6400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AFBED6"/>
                </a:solidFill>
                <a:latin typeface="Aptos"/>
              </a:rPr>
              <a:t>Исходные данные проекта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417320" y="3886200"/>
            <a:ext cx="9326880" cy="1371600"/>
          </a:xfrm>
          <a:prstGeom prst="roundRect">
            <a:avLst/>
          </a:prstGeom>
          <a:solidFill>
            <a:srgbClr val="19253E"/>
          </a:solidFill>
          <a:ln w="12700">
            <a:solidFill>
              <a:srgbClr val="35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737360" y="4133087"/>
            <a:ext cx="8686800" cy="74980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F4F7FC"/>
                </a:solidFill>
                <a:latin typeface="Aptos"/>
              </a:rPr>
              <a:t>«Модель работает не со всем проектом,
а только с переданным ей контекстом»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0" y="5715000"/>
            <a:ext cx="813816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0">
                <a:solidFill>
                  <a:srgbClr val="AFBED6"/>
                </a:solidFill>
                <a:latin typeface="Aptos"/>
              </a:rPr>
              <a:t>Сессия объединяет контекст, историю и состояние работы.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E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41148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5D3FF"/>
                </a:solidFill>
                <a:latin typeface="Aptos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347472"/>
            <a:ext cx="32004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667997"/>
                </a:solidFill>
                <a:latin typeface="Aptos"/>
              </a:rPr>
              <a:t>КОНТЕКСТ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31520"/>
            <a:ext cx="11064240" cy="53035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4F7FC"/>
                </a:solidFill>
                <a:latin typeface="Aptos Display"/>
              </a:rPr>
              <a:t>Сессия и ее жизненный цикл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25880"/>
            <a:ext cx="11173968" cy="16459"/>
          </a:xfrm>
          <a:prstGeom prst="rect">
            <a:avLst/>
          </a:prstGeom>
          <a:solidFill>
            <a:srgbClr val="2A3A58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365760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67997"/>
                </a:solidFill>
                <a:latin typeface="Aptos"/>
              </a:rPr>
              <a:t>Использование ИИ в разработке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92240"/>
            <a:ext cx="45720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67997"/>
                </a:solidFill>
                <a:latin typeface="Aptos"/>
              </a:rP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874519"/>
            <a:ext cx="2423160" cy="2057400"/>
          </a:xfrm>
          <a:prstGeom prst="roundRect">
            <a:avLst/>
          </a:prstGeom>
          <a:solidFill>
            <a:srgbClr val="141D32"/>
          </a:solidFill>
          <a:ln w="12700">
            <a:solidFill>
              <a:srgbClr val="2A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874519"/>
            <a:ext cx="50292" cy="2057400"/>
          </a:xfrm>
          <a:prstGeom prst="rect">
            <a:avLst/>
          </a:prstGeom>
          <a:solidFill>
            <a:srgbClr val="35D3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2057400"/>
            <a:ext cx="41148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5D3FF"/>
                </a:solidFill>
                <a:latin typeface="Apto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16736" y="2039112"/>
            <a:ext cx="1581912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4F7FC"/>
                </a:solidFill>
                <a:latin typeface="Aptos"/>
              </a:rPr>
              <a:t>Создание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560320"/>
            <a:ext cx="1920239" cy="12344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AFBED6"/>
                </a:solidFill>
                <a:latin typeface="Aptos"/>
              </a:rPr>
              <a:t>Начало работы</a:t>
            </a:r>
          </a:p>
        </p:txBody>
      </p:sp>
      <p:sp>
        <p:nvSpPr>
          <p:cNvPr id="13" name="Chevron 12"/>
          <p:cNvSpPr/>
          <p:nvPr/>
        </p:nvSpPr>
        <p:spPr>
          <a:xfrm>
            <a:off x="3145536" y="2743200"/>
            <a:ext cx="246888" cy="347472"/>
          </a:xfrm>
          <a:prstGeom prst="chevron">
            <a:avLst/>
          </a:prstGeom>
          <a:solidFill>
            <a:srgbClr val="667997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511296" y="1874519"/>
            <a:ext cx="2423160" cy="2057400"/>
          </a:xfrm>
          <a:prstGeom prst="roundRect">
            <a:avLst/>
          </a:prstGeom>
          <a:solidFill>
            <a:srgbClr val="141D32"/>
          </a:solidFill>
          <a:ln w="12700">
            <a:solidFill>
              <a:srgbClr val="2A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11296" y="1874519"/>
            <a:ext cx="50292" cy="2057400"/>
          </a:xfrm>
          <a:prstGeom prst="rect">
            <a:avLst/>
          </a:prstGeom>
          <a:solidFill>
            <a:srgbClr val="4169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39896" y="2057400"/>
            <a:ext cx="41148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4169FF"/>
                </a:solidFill>
                <a:latin typeface="Apto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69663" y="2039112"/>
            <a:ext cx="1581912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4F7FC"/>
                </a:solidFill>
                <a:latin typeface="Aptos"/>
              </a:rPr>
              <a:t>Обогащение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67328" y="2560320"/>
            <a:ext cx="1920239" cy="12344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AFBED6"/>
                </a:solidFill>
                <a:latin typeface="Aptos"/>
              </a:rPr>
              <a:t>Сообщения и файлы</a:t>
            </a:r>
          </a:p>
        </p:txBody>
      </p:sp>
      <p:sp>
        <p:nvSpPr>
          <p:cNvPr id="19" name="Chevron 18"/>
          <p:cNvSpPr/>
          <p:nvPr/>
        </p:nvSpPr>
        <p:spPr>
          <a:xfrm>
            <a:off x="5998464" y="2743200"/>
            <a:ext cx="246888" cy="347472"/>
          </a:xfrm>
          <a:prstGeom prst="chevron">
            <a:avLst/>
          </a:prstGeom>
          <a:solidFill>
            <a:srgbClr val="667997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364224" y="1874519"/>
            <a:ext cx="2423160" cy="2057400"/>
          </a:xfrm>
          <a:prstGeom prst="roundRect">
            <a:avLst/>
          </a:prstGeom>
          <a:solidFill>
            <a:srgbClr val="141D32"/>
          </a:solidFill>
          <a:ln w="12700">
            <a:solidFill>
              <a:srgbClr val="2A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64224" y="1874519"/>
            <a:ext cx="50292" cy="2057400"/>
          </a:xfrm>
          <a:prstGeom prst="rect">
            <a:avLst/>
          </a:prstGeom>
          <a:solidFill>
            <a:srgbClr val="975B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92824" y="2057400"/>
            <a:ext cx="41148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975BFF"/>
                </a:solidFill>
                <a:latin typeface="Aptos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22592" y="2039112"/>
            <a:ext cx="1581912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4F7FC"/>
                </a:solidFill>
                <a:latin typeface="Aptos"/>
              </a:rPr>
              <a:t>Сохранение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0256" y="2560320"/>
            <a:ext cx="1920239" cy="12344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AFBED6"/>
                </a:solidFill>
                <a:latin typeface="Aptos"/>
              </a:rPr>
              <a:t>ID сессии</a:t>
            </a:r>
          </a:p>
        </p:txBody>
      </p:sp>
      <p:sp>
        <p:nvSpPr>
          <p:cNvPr id="25" name="Chevron 24"/>
          <p:cNvSpPr/>
          <p:nvPr/>
        </p:nvSpPr>
        <p:spPr>
          <a:xfrm>
            <a:off x="8851392" y="2743200"/>
            <a:ext cx="246888" cy="347472"/>
          </a:xfrm>
          <a:prstGeom prst="chevron">
            <a:avLst/>
          </a:prstGeom>
          <a:solidFill>
            <a:srgbClr val="667997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217152" y="1874519"/>
            <a:ext cx="2423160" cy="2057400"/>
          </a:xfrm>
          <a:prstGeom prst="roundRect">
            <a:avLst/>
          </a:prstGeom>
          <a:solidFill>
            <a:srgbClr val="141D32"/>
          </a:solidFill>
          <a:ln w="12700">
            <a:solidFill>
              <a:srgbClr val="2A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217152" y="1874519"/>
            <a:ext cx="50292" cy="2057400"/>
          </a:xfrm>
          <a:prstGeom prst="rect">
            <a:avLst/>
          </a:prstGeom>
          <a:solidFill>
            <a:srgbClr val="4FDDA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45752" y="2057400"/>
            <a:ext cx="41148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4FDDAE"/>
                </a:solidFill>
                <a:latin typeface="Aptos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75520" y="2039112"/>
            <a:ext cx="1581911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4F7FC"/>
                </a:solidFill>
                <a:latin typeface="Aptos"/>
              </a:rPr>
              <a:t>Продолжение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73184" y="2560320"/>
            <a:ext cx="1920239" cy="12344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AFBED6"/>
                </a:solidFill>
                <a:latin typeface="Aptos"/>
              </a:rPr>
              <a:t>Возврат к состоянию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4892040"/>
            <a:ext cx="9966960" cy="4572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0">
                <a:solidFill>
                  <a:srgbClr val="F4F7FC"/>
                </a:solidFill>
                <a:latin typeface="Aptos"/>
              </a:rPr>
              <a:t>Дочерние агенты могут работать в отдельных сессиях со своим состоянием.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E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41148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5D3FF"/>
                </a:solidFill>
                <a:latin typeface="Aptos"/>
              </a:rP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347472"/>
            <a:ext cx="32004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667997"/>
                </a:solidFill>
                <a:latin typeface="Aptos"/>
              </a:rPr>
              <a:t>КОНТЕКСТ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31520"/>
            <a:ext cx="11064240" cy="53035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4F7FC"/>
                </a:solidFill>
                <a:latin typeface="Aptos Display"/>
              </a:rPr>
              <a:t>Взаимодействие агентов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25880"/>
            <a:ext cx="11173968" cy="16459"/>
          </a:xfrm>
          <a:prstGeom prst="rect">
            <a:avLst/>
          </a:prstGeom>
          <a:solidFill>
            <a:srgbClr val="2A3A58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365760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67997"/>
                </a:solidFill>
                <a:latin typeface="Aptos"/>
              </a:rPr>
              <a:t>Использование ИИ в разработке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92240"/>
            <a:ext cx="45720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67997"/>
                </a:solidFill>
                <a:latin typeface="Aptos"/>
              </a:rP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103120"/>
            <a:ext cx="2880360" cy="1371600"/>
          </a:xfrm>
          <a:prstGeom prst="roundRect">
            <a:avLst/>
          </a:prstGeom>
          <a:solidFill>
            <a:srgbClr val="141D32"/>
          </a:solidFill>
          <a:ln w="12700">
            <a:solidFill>
              <a:srgbClr val="35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67712"/>
            <a:ext cx="2514600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4F7FC"/>
                </a:solidFill>
                <a:latin typeface="Aptos"/>
              </a:rPr>
              <a:t>Основной агент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743200"/>
            <a:ext cx="2514600" cy="6400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AFBED6"/>
                </a:solidFill>
                <a:latin typeface="Aptos"/>
              </a:rPr>
              <a:t>Формулирует задачу
и принимает результат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783080"/>
            <a:ext cx="3520440" cy="2057400"/>
          </a:xfrm>
          <a:prstGeom prst="roundRect">
            <a:avLst/>
          </a:prstGeom>
          <a:solidFill>
            <a:srgbClr val="141D32"/>
          </a:solidFill>
          <a:ln w="12700">
            <a:solidFill>
              <a:srgbClr val="2A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783080"/>
            <a:ext cx="50292" cy="2057400"/>
          </a:xfrm>
          <a:prstGeom prst="rect">
            <a:avLst/>
          </a:prstGeom>
          <a:solidFill>
            <a:srgbClr val="4169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9432" y="1947672"/>
            <a:ext cx="3081527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4F7FC"/>
                </a:solidFill>
                <a:latin typeface="Aptos"/>
              </a:rPr>
              <a:t>Передаются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9432" y="2468880"/>
            <a:ext cx="3017520" cy="12344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AFBED6"/>
                </a:solidFill>
                <a:latin typeface="Aptos"/>
              </a:rPr>
              <a:t>Задача
Параметры
Исходные данные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95360" y="2103120"/>
            <a:ext cx="2880360" cy="1371600"/>
          </a:xfrm>
          <a:prstGeom prst="roundRect">
            <a:avLst/>
          </a:prstGeom>
          <a:solidFill>
            <a:srgbClr val="141D32"/>
          </a:solidFill>
          <a:ln w="12700">
            <a:solidFill>
              <a:srgbClr val="97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0" y="2267712"/>
            <a:ext cx="2514600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4F7FC"/>
                </a:solidFill>
                <a:latin typeface="Aptos"/>
              </a:rPr>
              <a:t>Субагент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0" y="2743200"/>
            <a:ext cx="2514600" cy="6400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AFBED6"/>
                </a:solidFill>
                <a:latin typeface="Aptos"/>
              </a:rPr>
              <a:t>Выполняет отдельную
специализированную работу</a:t>
            </a:r>
          </a:p>
        </p:txBody>
      </p:sp>
      <p:sp>
        <p:nvSpPr>
          <p:cNvPr id="18" name="Chevron 17"/>
          <p:cNvSpPr/>
          <p:nvPr/>
        </p:nvSpPr>
        <p:spPr>
          <a:xfrm>
            <a:off x="3749039" y="2606040"/>
            <a:ext cx="384048" cy="347472"/>
          </a:xfrm>
          <a:prstGeom prst="chevron">
            <a:avLst/>
          </a:prstGeom>
          <a:solidFill>
            <a:srgbClr val="35D3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hevron 18"/>
          <p:cNvSpPr/>
          <p:nvPr/>
        </p:nvSpPr>
        <p:spPr>
          <a:xfrm>
            <a:off x="8028431" y="2606040"/>
            <a:ext cx="384048" cy="347472"/>
          </a:xfrm>
          <a:prstGeom prst="chevron">
            <a:avLst/>
          </a:prstGeom>
          <a:solidFill>
            <a:srgbClr val="975B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349240" y="4343400"/>
            <a:ext cx="1508760" cy="310896"/>
          </a:xfrm>
          <a:prstGeom prst="roundRect">
            <a:avLst/>
          </a:prstGeom>
          <a:solidFill>
            <a:srgbClr val="19253E"/>
          </a:solidFill>
          <a:ln w="12700">
            <a:solidFill>
              <a:srgbClr val="4FDD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49240" y="4361688"/>
            <a:ext cx="1508760" cy="22860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4FDDAE"/>
                </a:solidFill>
                <a:latin typeface="Aptos"/>
              </a:rPr>
              <a:t>РЕЗУЛЬТАТ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5166360"/>
            <a:ext cx="9555480" cy="4572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0">
                <a:solidFill>
                  <a:srgbClr val="AFBED6"/>
                </a:solidFill>
                <a:latin typeface="Aptos"/>
              </a:rPr>
              <a:t>Внутренний контекст субагента не обязательно передается основному агенту.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E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41148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5D3FF"/>
                </a:solidFill>
                <a:latin typeface="Aptos"/>
              </a:rP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347472"/>
            <a:ext cx="32004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667997"/>
                </a:solidFill>
                <a:latin typeface="Aptos"/>
              </a:rPr>
              <a:t>КОНТЕКСТ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31520"/>
            <a:ext cx="11064240" cy="53035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4F7FC"/>
                </a:solidFill>
                <a:latin typeface="Aptos Display"/>
              </a:rPr>
              <a:t>Где хранится контекст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25880"/>
            <a:ext cx="11173968" cy="16459"/>
          </a:xfrm>
          <a:prstGeom prst="rect">
            <a:avLst/>
          </a:prstGeom>
          <a:solidFill>
            <a:srgbClr val="2A3A58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365760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67997"/>
                </a:solidFill>
                <a:latin typeface="Aptos"/>
              </a:rPr>
              <a:t>Использование ИИ в разработке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92240"/>
            <a:ext cx="45720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67997"/>
                </a:solidFill>
                <a:latin typeface="Aptos"/>
              </a:rPr>
              <a:t>9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847088"/>
            <a:ext cx="91440" cy="91440"/>
          </a:xfrm>
          <a:prstGeom prst="ellipse">
            <a:avLst/>
          </a:prstGeom>
          <a:solidFill>
            <a:srgbClr val="35D3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1737360"/>
            <a:ext cx="5394960" cy="7132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F4F7FC"/>
                </a:solidFill>
                <a:latin typeface="Aptos"/>
              </a:rPr>
              <a:t>LLM получает контекст вместе с каждым запросом.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2560320"/>
            <a:ext cx="91440" cy="91440"/>
          </a:xfrm>
          <a:prstGeom prst="ellipse">
            <a:avLst/>
          </a:prstGeom>
          <a:solidFill>
            <a:srgbClr val="35D3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2450591"/>
            <a:ext cx="5394960" cy="7132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F4F7FC"/>
                </a:solidFill>
                <a:latin typeface="Aptos"/>
              </a:rPr>
              <a:t>Размер контекста ограничен окном токенов.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3273552"/>
            <a:ext cx="91440" cy="91440"/>
          </a:xfrm>
          <a:prstGeom prst="ellipse">
            <a:avLst/>
          </a:prstGeom>
          <a:solidFill>
            <a:srgbClr val="35D3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" y="3163824"/>
            <a:ext cx="5394960" cy="7132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F4F7FC"/>
                </a:solidFill>
                <a:latin typeface="Aptos"/>
              </a:rPr>
              <a:t>Историей управляет приложение или агентная система.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3986784"/>
            <a:ext cx="91440" cy="91440"/>
          </a:xfrm>
          <a:prstGeom prst="ellipse">
            <a:avLst/>
          </a:prstGeom>
          <a:solidFill>
            <a:srgbClr val="35D3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6968" y="3877056"/>
            <a:ext cx="5394960" cy="7132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F4F7FC"/>
                </a:solidFill>
                <a:latin typeface="Aptos"/>
              </a:rPr>
              <a:t>Из большой истории выбираются наиболее важные данные.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75120" y="1664208"/>
            <a:ext cx="4846320" cy="4224528"/>
          </a:xfrm>
          <a:prstGeom prst="roundRect">
            <a:avLst/>
          </a:prstGeom>
          <a:solidFill>
            <a:srgbClr val="141D32"/>
          </a:solidFill>
          <a:ln w="12700">
            <a:solidFill>
              <a:srgbClr val="2A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project_954x83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2552" y="1691640"/>
            <a:ext cx="4791456" cy="4169664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6702552" y="5495544"/>
            <a:ext cx="4791456" cy="365760"/>
          </a:xfrm>
          <a:prstGeom prst="rect">
            <a:avLst/>
          </a:prstGeom>
          <a:solidFill>
            <a:srgbClr val="0D1527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0" y="5568696"/>
            <a:ext cx="4480559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AFBED6"/>
                </a:solidFill>
                <a:latin typeface="Aptos"/>
              </a:rPr>
              <a:t>Источник: официальный репозиторий OpenCode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5440680"/>
            <a:ext cx="5577840" cy="585216"/>
          </a:xfrm>
          <a:prstGeom prst="roundRect">
            <a:avLst/>
          </a:prstGeom>
          <a:solidFill>
            <a:srgbClr val="19253E"/>
          </a:solidFill>
          <a:ln w="12700">
            <a:solidFill>
              <a:srgbClr val="41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" y="5577840"/>
            <a:ext cx="516636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4F7FC"/>
                </a:solidFill>
                <a:latin typeface="Aptos"/>
              </a:rPr>
              <a:t>Приложение хранит состояние — модель обрабатывает запрос.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E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41148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5D3FF"/>
                </a:solidFill>
                <a:latin typeface="Aptos"/>
              </a:rP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347472"/>
            <a:ext cx="32004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667997"/>
                </a:solidFill>
                <a:latin typeface="Aptos"/>
              </a:rPr>
              <a:t>КОНТЕКСТ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31520"/>
            <a:ext cx="11064240" cy="53035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4F7FC"/>
                </a:solidFill>
                <a:latin typeface="Aptos Display"/>
              </a:rPr>
              <a:t>Внешнее хранение истории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25880"/>
            <a:ext cx="11173968" cy="16459"/>
          </a:xfrm>
          <a:prstGeom prst="rect">
            <a:avLst/>
          </a:prstGeom>
          <a:solidFill>
            <a:srgbClr val="2A3A58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365760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67997"/>
                </a:solidFill>
                <a:latin typeface="Aptos"/>
              </a:rPr>
              <a:t>Использование ИИ в разработке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92240"/>
            <a:ext cx="45720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67997"/>
                </a:solidFill>
                <a:latin typeface="Aptos"/>
              </a:rPr>
              <a:t>10</a:t>
            </a:r>
          </a:p>
        </p:txBody>
      </p:sp>
      <p:sp>
        <p:nvSpPr>
          <p:cNvPr id="8" name="Oval 7"/>
          <p:cNvSpPr/>
          <p:nvPr/>
        </p:nvSpPr>
        <p:spPr>
          <a:xfrm>
            <a:off x="1444752" y="1783080"/>
            <a:ext cx="658368" cy="658368"/>
          </a:xfrm>
          <a:prstGeom prst="ellipse">
            <a:avLst/>
          </a:prstGeom>
          <a:solidFill>
            <a:srgbClr val="35D3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44752" y="1901952"/>
            <a:ext cx="658368" cy="27432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090E1C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697480"/>
            <a:ext cx="2240280" cy="5486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4F7FC"/>
                </a:solidFill>
                <a:latin typeface="Aptos"/>
              </a:rPr>
              <a:t>Создать беседу</a:t>
            </a:r>
          </a:p>
        </p:txBody>
      </p:sp>
      <p:sp>
        <p:nvSpPr>
          <p:cNvPr id="11" name="Chevron 10"/>
          <p:cNvSpPr/>
          <p:nvPr/>
        </p:nvSpPr>
        <p:spPr>
          <a:xfrm>
            <a:off x="2926080" y="1956816"/>
            <a:ext cx="393192" cy="320040"/>
          </a:xfrm>
          <a:prstGeom prst="chevron">
            <a:avLst/>
          </a:prstGeom>
          <a:solidFill>
            <a:srgbClr val="667997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325112" y="1783080"/>
            <a:ext cx="658368" cy="658368"/>
          </a:xfrm>
          <a:prstGeom prst="ellipse">
            <a:avLst/>
          </a:prstGeom>
          <a:solidFill>
            <a:srgbClr val="4169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25112" y="1901952"/>
            <a:ext cx="658368" cy="27432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090E1C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38728" y="2697480"/>
            <a:ext cx="2240280" cy="5486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4F7FC"/>
                </a:solidFill>
                <a:latin typeface="Aptos"/>
              </a:rPr>
              <a:t>Получить ID</a:t>
            </a:r>
          </a:p>
        </p:txBody>
      </p:sp>
      <p:sp>
        <p:nvSpPr>
          <p:cNvPr id="15" name="Chevron 14"/>
          <p:cNvSpPr/>
          <p:nvPr/>
        </p:nvSpPr>
        <p:spPr>
          <a:xfrm>
            <a:off x="5806440" y="1956816"/>
            <a:ext cx="393192" cy="320040"/>
          </a:xfrm>
          <a:prstGeom prst="chevron">
            <a:avLst/>
          </a:prstGeom>
          <a:solidFill>
            <a:srgbClr val="667997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205472" y="1783080"/>
            <a:ext cx="658368" cy="658368"/>
          </a:xfrm>
          <a:prstGeom prst="ellipse">
            <a:avLst/>
          </a:prstGeom>
          <a:solidFill>
            <a:srgbClr val="975B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05472" y="1901952"/>
            <a:ext cx="658368" cy="27432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090E1C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2697480"/>
            <a:ext cx="2240280" cy="5486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4F7FC"/>
                </a:solidFill>
                <a:latin typeface="Aptos"/>
              </a:rPr>
              <a:t>Сохранить историю</a:t>
            </a:r>
          </a:p>
        </p:txBody>
      </p:sp>
      <p:sp>
        <p:nvSpPr>
          <p:cNvPr id="19" name="Chevron 18"/>
          <p:cNvSpPr/>
          <p:nvPr/>
        </p:nvSpPr>
        <p:spPr>
          <a:xfrm>
            <a:off x="8686800" y="1956816"/>
            <a:ext cx="393192" cy="320040"/>
          </a:xfrm>
          <a:prstGeom prst="chevron">
            <a:avLst/>
          </a:prstGeom>
          <a:solidFill>
            <a:srgbClr val="667997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85832" y="1783080"/>
            <a:ext cx="658368" cy="658368"/>
          </a:xfrm>
          <a:prstGeom prst="ellipse">
            <a:avLst/>
          </a:prstGeom>
          <a:solidFill>
            <a:srgbClr val="4FDDA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85832" y="1901952"/>
            <a:ext cx="658368" cy="27432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090E1C"/>
                </a:solidFill>
                <a:latin typeface="Apto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99448" y="2697480"/>
            <a:ext cx="2240280" cy="5486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4F7FC"/>
                </a:solidFill>
                <a:latin typeface="Aptos"/>
              </a:rPr>
              <a:t>Продолжить работу</a:t>
            </a:r>
          </a:p>
        </p:txBody>
      </p:sp>
      <p:sp>
        <p:nvSpPr>
          <p:cNvPr id="23" name="Oval 22"/>
          <p:cNvSpPr/>
          <p:nvPr/>
        </p:nvSpPr>
        <p:spPr>
          <a:xfrm>
            <a:off x="1828800" y="4087368"/>
            <a:ext cx="91440" cy="91440"/>
          </a:xfrm>
          <a:prstGeom prst="ellipse">
            <a:avLst/>
          </a:prstGeom>
          <a:solidFill>
            <a:srgbClr val="35D3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057400" y="3977639"/>
            <a:ext cx="8183879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F4F7FC"/>
                </a:solidFill>
                <a:latin typeface="Aptos"/>
              </a:rPr>
              <a:t>История и состояние хранятся вне LLM.</a:t>
            </a:r>
          </a:p>
        </p:txBody>
      </p:sp>
      <p:sp>
        <p:nvSpPr>
          <p:cNvPr id="25" name="Oval 24"/>
          <p:cNvSpPr/>
          <p:nvPr/>
        </p:nvSpPr>
        <p:spPr>
          <a:xfrm>
            <a:off x="1828800" y="4590288"/>
            <a:ext cx="91440" cy="91440"/>
          </a:xfrm>
          <a:prstGeom prst="ellipse">
            <a:avLst/>
          </a:prstGeom>
          <a:solidFill>
            <a:srgbClr val="35D3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057400" y="4480559"/>
            <a:ext cx="8183879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F4F7FC"/>
                </a:solidFill>
                <a:latin typeface="Aptos"/>
              </a:rPr>
              <a:t>Доступ к данным защищается авторизацией.</a:t>
            </a:r>
          </a:p>
        </p:txBody>
      </p:sp>
      <p:sp>
        <p:nvSpPr>
          <p:cNvPr id="27" name="Oval 26"/>
          <p:cNvSpPr/>
          <p:nvPr/>
        </p:nvSpPr>
        <p:spPr>
          <a:xfrm>
            <a:off x="1828800" y="5093207"/>
            <a:ext cx="91440" cy="91440"/>
          </a:xfrm>
          <a:prstGeom prst="ellipse">
            <a:avLst/>
          </a:prstGeom>
          <a:solidFill>
            <a:srgbClr val="35D3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057400" y="4983479"/>
            <a:ext cx="8183879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F4F7FC"/>
                </a:solidFill>
                <a:latin typeface="Aptos"/>
              </a:rPr>
              <a:t>Срок хранения зависит от конкретного провайдера.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E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41148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5D3FF"/>
                </a:solidFill>
                <a:latin typeface="Aptos"/>
              </a:rP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347472"/>
            <a:ext cx="32004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667997"/>
                </a:solidFill>
                <a:latin typeface="Aptos"/>
              </a:rPr>
              <a:t>СУЩНОСТИ OPENCODE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31520"/>
            <a:ext cx="11064240" cy="53035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4F7FC"/>
                </a:solidFill>
                <a:latin typeface="Aptos Display"/>
              </a:rPr>
              <a:t>Инструкции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25880"/>
            <a:ext cx="11173968" cy="16459"/>
          </a:xfrm>
          <a:prstGeom prst="rect">
            <a:avLst/>
          </a:prstGeom>
          <a:solidFill>
            <a:srgbClr val="2A3A58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365760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67997"/>
                </a:solidFill>
                <a:latin typeface="Aptos"/>
              </a:rPr>
              <a:t>Использование ИИ в разработке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92240"/>
            <a:ext cx="45720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67997"/>
                </a:solidFill>
                <a:latin typeface="Aptos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691640"/>
            <a:ext cx="4617720" cy="4251960"/>
          </a:xfrm>
          <a:prstGeom prst="roundRect">
            <a:avLst/>
          </a:prstGeom>
          <a:solidFill>
            <a:srgbClr val="141D32"/>
          </a:solidFill>
          <a:ln w="12700">
            <a:solidFill>
              <a:srgbClr val="2A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20240"/>
            <a:ext cx="228600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35D3FF"/>
                </a:solidFill>
                <a:latin typeface="Consolas"/>
              </a:rPr>
              <a:t>PROJECT_RULES.md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514600"/>
            <a:ext cx="393192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4F7FC"/>
                </a:solidFill>
                <a:latin typeface="Consolas"/>
              </a:rPr>
              <a:t># Бизнес-логика проекта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393192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AFBED6"/>
                </a:solidFill>
                <a:latin typeface="Consolas"/>
              </a:rPr>
              <a:t>- правила предметной области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520440"/>
            <a:ext cx="393192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AFBED6"/>
                </a:solidFill>
                <a:latin typeface="Consolas"/>
              </a:rPr>
              <a:t>- стандарты написания кода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023360"/>
            <a:ext cx="393192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AFBED6"/>
                </a:solidFill>
                <a:latin typeface="Consolas"/>
              </a:rPr>
              <a:t>- ограничения инструментов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526280"/>
            <a:ext cx="393192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AFBED6"/>
                </a:solidFill>
                <a:latin typeface="Consolas"/>
              </a:rPr>
              <a:t>- формат ожидаемого результата</a:t>
            </a:r>
          </a:p>
        </p:txBody>
      </p:sp>
      <p:sp>
        <p:nvSpPr>
          <p:cNvPr id="15" name="Oval 14"/>
          <p:cNvSpPr/>
          <p:nvPr/>
        </p:nvSpPr>
        <p:spPr>
          <a:xfrm>
            <a:off x="5897880" y="1938528"/>
            <a:ext cx="91440" cy="91440"/>
          </a:xfrm>
          <a:prstGeom prst="ellipse">
            <a:avLst/>
          </a:prstGeom>
          <a:solidFill>
            <a:srgbClr val="35D3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0" y="1828800"/>
            <a:ext cx="4892040" cy="69494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F4F7FC"/>
                </a:solidFill>
                <a:latin typeface="Aptos"/>
              </a:rPr>
              <a:t>Определяют правила работы ИИ.</a:t>
            </a:r>
          </a:p>
        </p:txBody>
      </p:sp>
      <p:sp>
        <p:nvSpPr>
          <p:cNvPr id="17" name="Oval 16"/>
          <p:cNvSpPr/>
          <p:nvPr/>
        </p:nvSpPr>
        <p:spPr>
          <a:xfrm>
            <a:off x="5897880" y="2633472"/>
            <a:ext cx="91440" cy="91440"/>
          </a:xfrm>
          <a:prstGeom prst="ellipse">
            <a:avLst/>
          </a:prstGeom>
          <a:solidFill>
            <a:srgbClr val="35D3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0" y="2523744"/>
            <a:ext cx="4892040" cy="69494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F4F7FC"/>
                </a:solidFill>
                <a:latin typeface="Aptos"/>
              </a:rPr>
              <a:t>Содержат знания и бизнес-логику.</a:t>
            </a:r>
          </a:p>
        </p:txBody>
      </p:sp>
      <p:sp>
        <p:nvSpPr>
          <p:cNvPr id="19" name="Oval 18"/>
          <p:cNvSpPr/>
          <p:nvPr/>
        </p:nvSpPr>
        <p:spPr>
          <a:xfrm>
            <a:off x="5897880" y="3328416"/>
            <a:ext cx="91440" cy="91440"/>
          </a:xfrm>
          <a:prstGeom prst="ellipse">
            <a:avLst/>
          </a:prstGeom>
          <a:solidFill>
            <a:srgbClr val="35D3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0" y="3218688"/>
            <a:ext cx="4892040" cy="69494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F4F7FC"/>
                </a:solidFill>
                <a:latin typeface="Aptos"/>
              </a:rPr>
              <a:t>Загружаются автоматически или по запросу.</a:t>
            </a:r>
          </a:p>
        </p:txBody>
      </p:sp>
      <p:sp>
        <p:nvSpPr>
          <p:cNvPr id="21" name="Oval 20"/>
          <p:cNvSpPr/>
          <p:nvPr/>
        </p:nvSpPr>
        <p:spPr>
          <a:xfrm>
            <a:off x="5897880" y="4023360"/>
            <a:ext cx="91440" cy="91440"/>
          </a:xfrm>
          <a:prstGeom prst="ellipse">
            <a:avLst/>
          </a:prstGeom>
          <a:solidFill>
            <a:srgbClr val="35D3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6480" y="3913632"/>
            <a:ext cx="4892040" cy="69494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F4F7FC"/>
                </a:solidFill>
                <a:latin typeface="Aptos"/>
              </a:rPr>
              <a:t>Делают результат более предсказуемым.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897880" y="5212080"/>
            <a:ext cx="1051560" cy="310896"/>
          </a:xfrm>
          <a:prstGeom prst="roundRect">
            <a:avLst/>
          </a:prstGeom>
          <a:solidFill>
            <a:srgbClr val="19253E"/>
          </a:solidFill>
          <a:ln w="12700">
            <a:solidFill>
              <a:srgbClr val="4FDD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97880" y="5230368"/>
            <a:ext cx="1051560" cy="22860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4FDDAE"/>
                </a:solidFill>
                <a:latin typeface="Aptos"/>
              </a:rPr>
              <a:t>ПРИНЦИП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78040" y="5166360"/>
            <a:ext cx="3977639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4F7FC"/>
                </a:solidFill>
                <a:latin typeface="Aptos"/>
              </a:rPr>
              <a:t>Чем точнее инструкции, тем стабильнее результат.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E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41148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5D3FF"/>
                </a:solidFill>
                <a:latin typeface="Aptos"/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347472"/>
            <a:ext cx="32004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667997"/>
                </a:solidFill>
                <a:latin typeface="Aptos"/>
              </a:rPr>
              <a:t>СУЩНОСТИ OPENCODE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31520"/>
            <a:ext cx="11064240" cy="53035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4F7FC"/>
                </a:solidFill>
                <a:latin typeface="Aptos Display"/>
              </a:rPr>
              <a:t>Агенты и субагенты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25880"/>
            <a:ext cx="11173968" cy="16459"/>
          </a:xfrm>
          <a:prstGeom prst="rect">
            <a:avLst/>
          </a:prstGeom>
          <a:solidFill>
            <a:srgbClr val="2A3A58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365760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67997"/>
                </a:solidFill>
                <a:latin typeface="Aptos"/>
              </a:rPr>
              <a:t>Использование ИИ в разработке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92240"/>
            <a:ext cx="45720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67997"/>
                </a:solidFill>
                <a:latin typeface="Aptos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60520" y="1600200"/>
            <a:ext cx="3840480" cy="1143000"/>
          </a:xfrm>
          <a:prstGeom prst="roundRect">
            <a:avLst/>
          </a:prstGeom>
          <a:solidFill>
            <a:srgbClr val="141D32"/>
          </a:solidFill>
          <a:ln w="12700">
            <a:solidFill>
              <a:srgbClr val="35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43400" y="1764792"/>
            <a:ext cx="3474720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4F7FC"/>
                </a:solidFill>
                <a:latin typeface="Aptos"/>
              </a:rPr>
              <a:t>Основной агент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3400" y="2240280"/>
            <a:ext cx="3474720" cy="411479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AFBED6"/>
                </a:solidFill>
                <a:latin typeface="Aptos"/>
              </a:rPr>
              <a:t>Управляет работой и взаимодействует с пользователем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4114800"/>
            <a:ext cx="3154680" cy="1234440"/>
          </a:xfrm>
          <a:prstGeom prst="roundRect">
            <a:avLst/>
          </a:prstGeom>
          <a:solidFill>
            <a:srgbClr val="141D32"/>
          </a:solidFill>
          <a:ln w="12700">
            <a:solidFill>
              <a:srgbClr val="97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279392"/>
            <a:ext cx="2788920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4F7FC"/>
                </a:solidFill>
                <a:latin typeface="Aptos"/>
              </a:rPr>
              <a:t>Анализ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754880"/>
            <a:ext cx="278892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AFBED6"/>
                </a:solidFill>
                <a:latin typeface="Aptos"/>
              </a:rPr>
              <a:t>Исследует проект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39112" y="3154680"/>
            <a:ext cx="457200" cy="4572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500" b="1">
                <a:solidFill>
                  <a:srgbClr val="975BFF"/>
                </a:solidFill>
                <a:latin typeface="Aptos"/>
              </a:rPr>
              <a:t>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26280" y="4114800"/>
            <a:ext cx="3154680" cy="1234440"/>
          </a:xfrm>
          <a:prstGeom prst="roundRect">
            <a:avLst/>
          </a:prstGeom>
          <a:solidFill>
            <a:srgbClr val="141D32"/>
          </a:solidFill>
          <a:ln w="12700">
            <a:solidFill>
              <a:srgbClr val="41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09160" y="4279392"/>
            <a:ext cx="2788920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4F7FC"/>
                </a:solidFill>
                <a:latin typeface="Aptos"/>
              </a:rPr>
              <a:t>Реализация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4754880"/>
            <a:ext cx="278892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AFBED6"/>
                </a:solidFill>
                <a:latin typeface="Aptos"/>
              </a:rPr>
              <a:t>Выполняет задачу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79592" y="3154680"/>
            <a:ext cx="457200" cy="4572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500" b="1">
                <a:solidFill>
                  <a:srgbClr val="4169FF"/>
                </a:solidFill>
                <a:latin typeface="Aptos"/>
              </a:rPr>
              <a:t>↓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66760" y="4114800"/>
            <a:ext cx="3154680" cy="1234440"/>
          </a:xfrm>
          <a:prstGeom prst="roundRect">
            <a:avLst/>
          </a:prstGeom>
          <a:solidFill>
            <a:srgbClr val="141D32"/>
          </a:solidFill>
          <a:ln w="12700">
            <a:solidFill>
              <a:srgbClr val="4FDD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49640" y="4279392"/>
            <a:ext cx="2788920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4F7FC"/>
                </a:solidFill>
                <a:latin typeface="Aptos"/>
              </a:rPr>
              <a:t>Проверка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49640" y="4754880"/>
            <a:ext cx="278892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AFBED6"/>
                </a:solidFill>
                <a:latin typeface="Aptos"/>
              </a:rPr>
              <a:t>Оценивает результат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20072" y="3154680"/>
            <a:ext cx="457200" cy="4572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500" b="1">
                <a:solidFill>
                  <a:srgbClr val="4FDDAE"/>
                </a:solidFill>
                <a:latin typeface="Aptos"/>
              </a:rPr>
              <a:t>↓</a:t>
            </a:r>
          </a:p>
        </p:txBody>
      </p:sp>
      <p:sp>
        <p:nvSpPr>
          <p:cNvPr id="23" name="Oval 22"/>
          <p:cNvSpPr/>
          <p:nvPr/>
        </p:nvSpPr>
        <p:spPr>
          <a:xfrm>
            <a:off x="1143000" y="2990088"/>
            <a:ext cx="91440" cy="91440"/>
          </a:xfrm>
          <a:prstGeom prst="ellipse">
            <a:avLst/>
          </a:prstGeom>
          <a:solidFill>
            <a:srgbClr val="35D3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71600" y="2880360"/>
            <a:ext cx="9555480" cy="43891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F4F7FC"/>
                </a:solidFill>
                <a:latin typeface="Aptos"/>
              </a:rPr>
              <a:t>Для агента задаются промпт, модель и разрешения.</a:t>
            </a:r>
          </a:p>
        </p:txBody>
      </p:sp>
      <p:sp>
        <p:nvSpPr>
          <p:cNvPr id="25" name="Oval 24"/>
          <p:cNvSpPr/>
          <p:nvPr/>
        </p:nvSpPr>
        <p:spPr>
          <a:xfrm>
            <a:off x="1143000" y="3429000"/>
            <a:ext cx="91440" cy="91440"/>
          </a:xfrm>
          <a:prstGeom prst="ellipse">
            <a:avLst/>
          </a:prstGeom>
          <a:solidFill>
            <a:srgbClr val="35D3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71600" y="3319272"/>
            <a:ext cx="9555480" cy="43891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F4F7FC"/>
                </a:solidFill>
                <a:latin typeface="Aptos"/>
              </a:rPr>
              <a:t>Субагент получает отдельную специализированную задачу.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00200" y="5779008"/>
            <a:ext cx="896112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0">
                <a:solidFill>
                  <a:srgbClr val="AFBED6"/>
                </a:solidFill>
                <a:latin typeface="Aptos"/>
              </a:rPr>
              <a:t>Разделение ролей уменьшает объем контекста каждой задачи.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E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41148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5D3FF"/>
                </a:solidFill>
                <a:latin typeface="Aptos"/>
              </a:rPr>
              <a:t>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347472"/>
            <a:ext cx="32004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667997"/>
                </a:solidFill>
                <a:latin typeface="Aptos"/>
              </a:rPr>
              <a:t>ВЗАИМОДЕЙСТВИЕ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31520"/>
            <a:ext cx="11064240" cy="53035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4F7FC"/>
                </a:solidFill>
                <a:latin typeface="Aptos Display"/>
              </a:rPr>
              <a:t>Передача контекста субагенту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25880"/>
            <a:ext cx="11173968" cy="16459"/>
          </a:xfrm>
          <a:prstGeom prst="rect">
            <a:avLst/>
          </a:prstGeom>
          <a:solidFill>
            <a:srgbClr val="2A3A58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365760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67997"/>
                </a:solidFill>
                <a:latin typeface="Aptos"/>
              </a:rPr>
              <a:t>Использование ИИ в разработке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92240"/>
            <a:ext cx="45720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67997"/>
                </a:solidFill>
                <a:latin typeface="Aptos"/>
              </a:rP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691640"/>
            <a:ext cx="3154680" cy="3474720"/>
          </a:xfrm>
          <a:prstGeom prst="roundRect">
            <a:avLst/>
          </a:prstGeom>
          <a:solidFill>
            <a:srgbClr val="141D32"/>
          </a:solidFill>
          <a:ln w="12700">
            <a:solidFill>
              <a:srgbClr val="2A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3232" y="1691640"/>
            <a:ext cx="50292" cy="3474720"/>
          </a:xfrm>
          <a:prstGeom prst="rect">
            <a:avLst/>
          </a:prstGeom>
          <a:solidFill>
            <a:srgbClr val="FF7084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1856232"/>
            <a:ext cx="2715768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4F7FC"/>
                </a:solidFill>
                <a:latin typeface="Aptos"/>
              </a:rPr>
              <a:t>Недостаточный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" y="2377440"/>
            <a:ext cx="2651760" cy="2651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AFBED6"/>
                </a:solidFill>
                <a:latin typeface="Aptos"/>
              </a:rPr>
              <a:t>Нет важных данных
Неточный результат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17136" y="1508760"/>
            <a:ext cx="3154680" cy="3840480"/>
          </a:xfrm>
          <a:prstGeom prst="roundRect">
            <a:avLst/>
          </a:prstGeom>
          <a:solidFill>
            <a:srgbClr val="141D32"/>
          </a:solidFill>
          <a:ln w="12700">
            <a:solidFill>
              <a:srgbClr val="2A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17136" y="1508760"/>
            <a:ext cx="50292" cy="3840480"/>
          </a:xfrm>
          <a:prstGeom prst="rect">
            <a:avLst/>
          </a:prstGeom>
          <a:solidFill>
            <a:srgbClr val="4FDDA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73168" y="1673351"/>
            <a:ext cx="2715768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4F7FC"/>
                </a:solidFill>
                <a:latin typeface="Aptos"/>
              </a:rPr>
              <a:t>Достаточный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73168" y="2194560"/>
            <a:ext cx="2651760" cy="30175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AFBED6"/>
                </a:solidFill>
                <a:latin typeface="Aptos"/>
              </a:rPr>
              <a:t>Только нужные данные
Управляемый результат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21040" y="1691640"/>
            <a:ext cx="3154680" cy="3474720"/>
          </a:xfrm>
          <a:prstGeom prst="roundRect">
            <a:avLst/>
          </a:prstGeom>
          <a:solidFill>
            <a:srgbClr val="141D32"/>
          </a:solidFill>
          <a:ln w="12700">
            <a:solidFill>
              <a:srgbClr val="2A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321040" y="1691640"/>
            <a:ext cx="50292" cy="3474720"/>
          </a:xfrm>
          <a:prstGeom prst="rect">
            <a:avLst/>
          </a:prstGeom>
          <a:solidFill>
            <a:srgbClr val="F7BA4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77072" y="1856232"/>
            <a:ext cx="2715768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4F7FC"/>
                </a:solidFill>
                <a:latin typeface="Aptos"/>
              </a:rPr>
              <a:t>Избыточный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77072" y="2377440"/>
            <a:ext cx="2651760" cy="2651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AFBED6"/>
                </a:solidFill>
                <a:latin typeface="Aptos"/>
              </a:rPr>
              <a:t>Лишние сведения
Больше токенов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965960" y="5623560"/>
            <a:ext cx="8229600" cy="530352"/>
          </a:xfrm>
          <a:prstGeom prst="roundRect">
            <a:avLst/>
          </a:prstGeom>
          <a:solidFill>
            <a:srgbClr val="19253E"/>
          </a:solidFill>
          <a:ln w="12700">
            <a:solidFill>
              <a:srgbClr val="35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148840" y="5733288"/>
            <a:ext cx="786384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4F7FC"/>
                </a:solidFill>
                <a:latin typeface="Aptos"/>
              </a:rPr>
              <a:t>Хороший контекст должен быть не максимальным, а достаточным.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E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41148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5D3FF"/>
                </a:solidFill>
                <a:latin typeface="Aptos"/>
              </a:rPr>
              <a:t>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347472"/>
            <a:ext cx="32004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667997"/>
                </a:solidFill>
                <a:latin typeface="Aptos"/>
              </a:rPr>
              <a:t>ВЗАИМОДЕЙСТВИЕ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31520"/>
            <a:ext cx="11064240" cy="53035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4F7FC"/>
                </a:solidFill>
                <a:latin typeface="Aptos Display"/>
              </a:rPr>
              <a:t>Формат обмена между агентами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25880"/>
            <a:ext cx="11173968" cy="16459"/>
          </a:xfrm>
          <a:prstGeom prst="rect">
            <a:avLst/>
          </a:prstGeom>
          <a:solidFill>
            <a:srgbClr val="2A3A58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365760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67997"/>
                </a:solidFill>
                <a:latin typeface="Aptos"/>
              </a:rPr>
              <a:t>Использование ИИ в разработке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92240"/>
            <a:ext cx="45720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67997"/>
                </a:solidFill>
                <a:latin typeface="Aptos"/>
              </a:rP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691640"/>
            <a:ext cx="4389120" cy="3383280"/>
          </a:xfrm>
          <a:prstGeom prst="roundRect">
            <a:avLst/>
          </a:prstGeom>
          <a:solidFill>
            <a:srgbClr val="141D32"/>
          </a:solidFill>
          <a:ln w="12700">
            <a:solidFill>
              <a:srgbClr val="2A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691640"/>
            <a:ext cx="50292" cy="3383280"/>
          </a:xfrm>
          <a:prstGeom prst="rect">
            <a:avLst/>
          </a:prstGeom>
          <a:solidFill>
            <a:srgbClr val="35D3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1856232"/>
            <a:ext cx="3950207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4F7FC"/>
                </a:solidFill>
                <a:latin typeface="Aptos"/>
              </a:rPr>
              <a:t>Запрос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2377440"/>
            <a:ext cx="3886200" cy="2560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AFBED6"/>
                </a:solidFill>
                <a:latin typeface="Aptos"/>
              </a:rPr>
              <a:t>Задача
Входные данные
Параметры выполнения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14032" y="1691640"/>
            <a:ext cx="4389120" cy="3383280"/>
          </a:xfrm>
          <a:prstGeom prst="roundRect">
            <a:avLst/>
          </a:prstGeom>
          <a:solidFill>
            <a:srgbClr val="141D32"/>
          </a:solidFill>
          <a:ln w="12700">
            <a:solidFill>
              <a:srgbClr val="2A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14032" y="1691640"/>
            <a:ext cx="50292" cy="3383280"/>
          </a:xfrm>
          <a:prstGeom prst="rect">
            <a:avLst/>
          </a:prstGeom>
          <a:solidFill>
            <a:srgbClr val="4FDDA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70064" y="1856232"/>
            <a:ext cx="3950207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4F7FC"/>
                </a:solidFill>
                <a:latin typeface="Aptos"/>
              </a:rPr>
              <a:t>Ответ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70064" y="2377440"/>
            <a:ext cx="3886200" cy="2560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AFBED6"/>
                </a:solidFill>
                <a:latin typeface="Aptos"/>
              </a:rPr>
              <a:t>Статус выполнения
Основной результат
Метаданные</a:t>
            </a:r>
          </a:p>
        </p:txBody>
      </p:sp>
      <p:sp>
        <p:nvSpPr>
          <p:cNvPr id="16" name="Hexagon 15"/>
          <p:cNvSpPr/>
          <p:nvPr/>
        </p:nvSpPr>
        <p:spPr>
          <a:xfrm>
            <a:off x="5422392" y="2514600"/>
            <a:ext cx="1325880" cy="1325880"/>
          </a:xfrm>
          <a:prstGeom prst="hexagon">
            <a:avLst/>
          </a:prstGeom>
          <a:solidFill>
            <a:srgbClr val="19253E"/>
          </a:solidFill>
          <a:ln w="12700">
            <a:solidFill>
              <a:srgbClr val="97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59552" y="2926080"/>
            <a:ext cx="105156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975BFF"/>
                </a:solidFill>
                <a:latin typeface="Consolas"/>
              </a:rPr>
              <a:t>JSON</a:t>
            </a:r>
          </a:p>
        </p:txBody>
      </p:sp>
      <p:sp>
        <p:nvSpPr>
          <p:cNvPr id="18" name="Chevron 17"/>
          <p:cNvSpPr/>
          <p:nvPr/>
        </p:nvSpPr>
        <p:spPr>
          <a:xfrm>
            <a:off x="5138928" y="2999232"/>
            <a:ext cx="228600" cy="292608"/>
          </a:xfrm>
          <a:prstGeom prst="chevron">
            <a:avLst/>
          </a:prstGeom>
          <a:solidFill>
            <a:srgbClr val="35D3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hevron 18"/>
          <p:cNvSpPr/>
          <p:nvPr/>
        </p:nvSpPr>
        <p:spPr>
          <a:xfrm>
            <a:off x="6812280" y="2999232"/>
            <a:ext cx="228600" cy="292608"/>
          </a:xfrm>
          <a:prstGeom prst="chevron">
            <a:avLst/>
          </a:prstGeom>
          <a:solidFill>
            <a:srgbClr val="4FDDA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08760" y="5596128"/>
            <a:ext cx="9144000" cy="3840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0">
                <a:solidFill>
                  <a:srgbClr val="AFBED6"/>
                </a:solidFill>
                <a:latin typeface="Aptos"/>
              </a:rPr>
              <a:t>Структурированный формат делает взаимодействие предсказуемым.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E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41148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5D3FF"/>
                </a:solidFill>
                <a:latin typeface="Aptos"/>
              </a:rPr>
              <a:t>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347472"/>
            <a:ext cx="32004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667997"/>
                </a:solidFill>
                <a:latin typeface="Aptos"/>
              </a:rPr>
              <a:t>СУЩНОСТИ OPENCODE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31520"/>
            <a:ext cx="11064240" cy="53035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4F7FC"/>
                </a:solidFill>
                <a:latin typeface="Aptos Display"/>
              </a:rPr>
              <a:t>Инструменты и команды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25880"/>
            <a:ext cx="11173968" cy="16459"/>
          </a:xfrm>
          <a:prstGeom prst="rect">
            <a:avLst/>
          </a:prstGeom>
          <a:solidFill>
            <a:srgbClr val="2A3A58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365760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67997"/>
                </a:solidFill>
                <a:latin typeface="Aptos"/>
              </a:rPr>
              <a:t>Использование ИИ в разработке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92240"/>
            <a:ext cx="45720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67997"/>
                </a:solidFill>
                <a:latin typeface="Aptos"/>
              </a:rP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737360"/>
            <a:ext cx="2423160" cy="1920240"/>
          </a:xfrm>
          <a:prstGeom prst="roundRect">
            <a:avLst/>
          </a:prstGeom>
          <a:solidFill>
            <a:srgbClr val="141D32"/>
          </a:solidFill>
          <a:ln w="12700">
            <a:solidFill>
              <a:srgbClr val="35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993392"/>
            <a:ext cx="566928" cy="4114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35D3FF"/>
                </a:solidFill>
                <a:latin typeface="Consolas"/>
              </a:rPr>
              <a:t>&lt;/&gt;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1993392"/>
            <a:ext cx="1325880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F4F7FC"/>
                </a:solidFill>
                <a:latin typeface="Consolas"/>
              </a:rPr>
              <a:t>edit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788920"/>
            <a:ext cx="1965960" cy="4114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AFBED6"/>
                </a:solidFill>
                <a:latin typeface="Aptos"/>
              </a:rPr>
              <a:t>Работа с файлами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38728" y="1737360"/>
            <a:ext cx="2423160" cy="1920240"/>
          </a:xfrm>
          <a:prstGeom prst="roundRect">
            <a:avLst/>
          </a:prstGeom>
          <a:solidFill>
            <a:srgbClr val="141D32"/>
          </a:solidFill>
          <a:ln w="12700">
            <a:solidFill>
              <a:srgbClr val="41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21608" y="1993392"/>
            <a:ext cx="566928" cy="4114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4169FF"/>
                </a:solidFill>
                <a:latin typeface="Consolas"/>
              </a:rPr>
              <a:t>&gt;_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61688" y="1993392"/>
            <a:ext cx="1325880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F4F7FC"/>
                </a:solidFill>
                <a:latin typeface="Consolas"/>
              </a:rPr>
              <a:t>bash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67328" y="2788920"/>
            <a:ext cx="1965960" cy="4114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AFBED6"/>
                </a:solidFill>
                <a:latin typeface="Aptos"/>
              </a:rPr>
              <a:t>Консольные команды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91656" y="1737360"/>
            <a:ext cx="2423160" cy="1920240"/>
          </a:xfrm>
          <a:prstGeom prst="roundRect">
            <a:avLst/>
          </a:prstGeom>
          <a:solidFill>
            <a:srgbClr val="141D32"/>
          </a:solidFill>
          <a:ln w="12700">
            <a:solidFill>
              <a:srgbClr val="97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74536" y="1993392"/>
            <a:ext cx="566928" cy="4114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975BFF"/>
                </a:solidFill>
                <a:latin typeface="Consolas"/>
              </a:rPr>
              <a:t>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14616" y="1993392"/>
            <a:ext cx="1325880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F4F7FC"/>
                </a:solidFill>
                <a:latin typeface="Consolas"/>
              </a:rPr>
              <a:t>Git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0256" y="2788920"/>
            <a:ext cx="1965960" cy="4114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AFBED6"/>
                </a:solidFill>
                <a:latin typeface="Aptos"/>
              </a:rPr>
              <a:t>Контроль изменений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44584" y="1737360"/>
            <a:ext cx="2423160" cy="1920240"/>
          </a:xfrm>
          <a:prstGeom prst="roundRect">
            <a:avLst/>
          </a:prstGeom>
          <a:solidFill>
            <a:srgbClr val="141D32"/>
          </a:solidFill>
          <a:ln w="12700">
            <a:solidFill>
              <a:srgbClr val="4FDD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27463" y="1993392"/>
            <a:ext cx="566928" cy="4114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4FDDAE"/>
                </a:solidFill>
                <a:latin typeface="Consolas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67544" y="1993392"/>
            <a:ext cx="1325880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F4F7FC"/>
                </a:solidFill>
                <a:latin typeface="Consolas"/>
              </a:rPr>
              <a:t>task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73184" y="2788920"/>
            <a:ext cx="1965960" cy="4114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AFBED6"/>
                </a:solidFill>
                <a:latin typeface="Aptos"/>
              </a:rPr>
              <a:t>Работа субагента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297680"/>
            <a:ext cx="11018520" cy="1143000"/>
          </a:xfrm>
          <a:prstGeom prst="roundRect">
            <a:avLst/>
          </a:prstGeom>
          <a:solidFill>
            <a:srgbClr val="19253E"/>
          </a:solidFill>
          <a:ln w="12700">
            <a:solidFill>
              <a:srgbClr val="F7B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4572000"/>
            <a:ext cx="1325880" cy="34747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F7BA4A"/>
                </a:solidFill>
                <a:latin typeface="Aptos"/>
              </a:rPr>
              <a:t>Команды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68880" y="4572000"/>
            <a:ext cx="6217920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F4F7FC"/>
                </a:solidFill>
                <a:latin typeface="Aptos"/>
              </a:rPr>
              <a:t>Запускают заранее подготовленные сценарии с параметрами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72600" y="4599432"/>
            <a:ext cx="1691640" cy="29260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35D3FF"/>
                </a:solidFill>
                <a:latin typeface="Consolas"/>
              </a:rPr>
              <a:t>permission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E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41148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5D3FF"/>
                </a:solidFill>
                <a:latin typeface="Aptos"/>
              </a:rPr>
              <a:t>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347472"/>
            <a:ext cx="32004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667997"/>
                </a:solidFill>
                <a:latin typeface="Aptos"/>
              </a:rPr>
              <a:t>СУЩНОСТИ OPENCODE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31520"/>
            <a:ext cx="11064240" cy="53035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4F7FC"/>
                </a:solidFill>
                <a:latin typeface="Aptos Display"/>
              </a:rPr>
              <a:t>Инструмент task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25880"/>
            <a:ext cx="11173968" cy="16459"/>
          </a:xfrm>
          <a:prstGeom prst="rect">
            <a:avLst/>
          </a:prstGeom>
          <a:solidFill>
            <a:srgbClr val="2A3A58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365760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67997"/>
                </a:solidFill>
                <a:latin typeface="Aptos"/>
              </a:rPr>
              <a:t>Использование ИИ в разработке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92240"/>
            <a:ext cx="45720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67997"/>
                </a:solidFill>
                <a:latin typeface="Aptos"/>
              </a:rP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057400"/>
            <a:ext cx="3017520" cy="1371600"/>
          </a:xfrm>
          <a:prstGeom prst="roundRect">
            <a:avLst/>
          </a:prstGeom>
          <a:solidFill>
            <a:srgbClr val="141D32"/>
          </a:solidFill>
          <a:ln w="12700">
            <a:solidFill>
              <a:srgbClr val="35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21992"/>
            <a:ext cx="2651760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4F7FC"/>
                </a:solidFill>
                <a:latin typeface="Aptos"/>
              </a:rPr>
              <a:t>Основной агент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697480"/>
            <a:ext cx="2651760" cy="6400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AFBED6"/>
                </a:solidFill>
                <a:latin typeface="Aptos"/>
              </a:rPr>
              <a:t>Передает отдельную задачу</a:t>
            </a:r>
          </a:p>
        </p:txBody>
      </p:sp>
      <p:sp>
        <p:nvSpPr>
          <p:cNvPr id="11" name="Hexagon 10"/>
          <p:cNvSpPr/>
          <p:nvPr/>
        </p:nvSpPr>
        <p:spPr>
          <a:xfrm>
            <a:off x="4617720" y="2121408"/>
            <a:ext cx="2926080" cy="1234440"/>
          </a:xfrm>
          <a:prstGeom prst="hexagon">
            <a:avLst/>
          </a:prstGeom>
          <a:solidFill>
            <a:srgbClr val="19253E"/>
          </a:solidFill>
          <a:ln w="12700">
            <a:solidFill>
              <a:srgbClr val="41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74920" y="2423160"/>
            <a:ext cx="2011680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>
                <a:solidFill>
                  <a:srgbClr val="4169FF"/>
                </a:solidFill>
                <a:latin typeface="Consolas"/>
              </a:rPr>
              <a:t>task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58200" y="2057400"/>
            <a:ext cx="3017520" cy="1371600"/>
          </a:xfrm>
          <a:prstGeom prst="roundRect">
            <a:avLst/>
          </a:prstGeom>
          <a:solidFill>
            <a:srgbClr val="141D32"/>
          </a:solidFill>
          <a:ln w="12700">
            <a:solidFill>
              <a:srgbClr val="97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41080" y="2221992"/>
            <a:ext cx="2651760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4F7FC"/>
                </a:solidFill>
                <a:latin typeface="Aptos"/>
              </a:rPr>
              <a:t>Субагент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41080" y="2697480"/>
            <a:ext cx="2651760" cy="6400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AFBED6"/>
                </a:solidFill>
                <a:latin typeface="Aptos"/>
              </a:rPr>
              <a:t>Работает в своей сессии</a:t>
            </a:r>
          </a:p>
        </p:txBody>
      </p:sp>
      <p:sp>
        <p:nvSpPr>
          <p:cNvPr id="16" name="Chevron 15"/>
          <p:cNvSpPr/>
          <p:nvPr/>
        </p:nvSpPr>
        <p:spPr>
          <a:xfrm>
            <a:off x="3931920" y="2560320"/>
            <a:ext cx="457200" cy="384048"/>
          </a:xfrm>
          <a:prstGeom prst="chevron">
            <a:avLst/>
          </a:prstGeom>
          <a:solidFill>
            <a:srgbClr val="35D3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hevron 16"/>
          <p:cNvSpPr/>
          <p:nvPr/>
        </p:nvSpPr>
        <p:spPr>
          <a:xfrm>
            <a:off x="7799831" y="2560320"/>
            <a:ext cx="457200" cy="384048"/>
          </a:xfrm>
          <a:prstGeom prst="chevron">
            <a:avLst/>
          </a:prstGeom>
          <a:solidFill>
            <a:srgbClr val="975B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645920" y="4270248"/>
            <a:ext cx="91440" cy="91440"/>
          </a:xfrm>
          <a:prstGeom prst="ellipse">
            <a:avLst/>
          </a:prstGeom>
          <a:solidFill>
            <a:srgbClr val="35D3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874519" y="4160520"/>
            <a:ext cx="8732520" cy="47548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F4F7FC"/>
                </a:solidFill>
                <a:latin typeface="Aptos"/>
              </a:rPr>
              <a:t>Возвращает итоговый результат основному агенту.</a:t>
            </a:r>
          </a:p>
        </p:txBody>
      </p:sp>
      <p:sp>
        <p:nvSpPr>
          <p:cNvPr id="20" name="Oval 19"/>
          <p:cNvSpPr/>
          <p:nvPr/>
        </p:nvSpPr>
        <p:spPr>
          <a:xfrm>
            <a:off x="1645920" y="4745736"/>
            <a:ext cx="91440" cy="91440"/>
          </a:xfrm>
          <a:prstGeom prst="ellipse">
            <a:avLst/>
          </a:prstGeom>
          <a:solidFill>
            <a:srgbClr val="35D3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874519" y="4636008"/>
            <a:ext cx="8732520" cy="47548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F4F7FC"/>
                </a:solidFill>
                <a:latin typeface="Aptos"/>
              </a:rPr>
              <a:t>task_id позволяет продолжить ту же сессию.</a:t>
            </a:r>
          </a:p>
        </p:txBody>
      </p:sp>
      <p:sp>
        <p:nvSpPr>
          <p:cNvPr id="22" name="Oval 21"/>
          <p:cNvSpPr/>
          <p:nvPr/>
        </p:nvSpPr>
        <p:spPr>
          <a:xfrm>
            <a:off x="1645920" y="5221224"/>
            <a:ext cx="91440" cy="91440"/>
          </a:xfrm>
          <a:prstGeom prst="ellipse">
            <a:avLst/>
          </a:prstGeom>
          <a:solidFill>
            <a:srgbClr val="35D3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874519" y="5111496"/>
            <a:ext cx="8732520" cy="47548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F4F7FC"/>
                </a:solidFill>
                <a:latin typeface="Aptos"/>
              </a:rPr>
              <a:t>todowrite фиксирует задачи, но не запускает субагента.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5806440"/>
            <a:ext cx="1645920" cy="310896"/>
          </a:xfrm>
          <a:prstGeom prst="roundRect">
            <a:avLst/>
          </a:prstGeom>
          <a:solidFill>
            <a:srgbClr val="19253E"/>
          </a:solidFill>
          <a:ln w="12700">
            <a:solidFill>
              <a:srgbClr val="F7B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5824727"/>
            <a:ext cx="1645920" cy="22860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7BA4A"/>
                </a:solidFill>
                <a:latin typeface="Aptos"/>
              </a:rPr>
              <a:t>ПРИМЕР ПРОЕКТА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78608" y="5760720"/>
            <a:ext cx="8412480" cy="34747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AFBED6"/>
                </a:solidFill>
                <a:latin typeface="Aptos"/>
              </a:rPr>
              <a:t>Координатор сохраняет task_id двух агентов до завершения игры.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E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41148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5D3FF"/>
                </a:solidFill>
                <a:latin typeface="Aptos"/>
              </a:rPr>
              <a:t>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347472"/>
            <a:ext cx="32004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667997"/>
                </a:solidFill>
                <a:latin typeface="Aptos"/>
              </a:rPr>
              <a:t>МОДЕЛИ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31520"/>
            <a:ext cx="11064240" cy="53035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4F7FC"/>
                </a:solidFill>
                <a:latin typeface="Aptos Display"/>
              </a:rPr>
              <a:t>Настройка моделей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25880"/>
            <a:ext cx="11173968" cy="16459"/>
          </a:xfrm>
          <a:prstGeom prst="rect">
            <a:avLst/>
          </a:prstGeom>
          <a:solidFill>
            <a:srgbClr val="2A3A58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365760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67997"/>
                </a:solidFill>
                <a:latin typeface="Aptos"/>
              </a:rPr>
              <a:t>Использование ИИ в разработке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92240"/>
            <a:ext cx="45720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67997"/>
                </a:solidFill>
                <a:latin typeface="Aptos"/>
              </a:rPr>
              <a:t>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664208"/>
            <a:ext cx="4892040" cy="4343400"/>
          </a:xfrm>
          <a:prstGeom prst="roundRect">
            <a:avLst/>
          </a:prstGeom>
          <a:solidFill>
            <a:srgbClr val="141D32"/>
          </a:solidFill>
          <a:ln w="12700">
            <a:solidFill>
              <a:srgbClr val="2A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20240"/>
            <a:ext cx="182880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35D3FF"/>
                </a:solidFill>
                <a:latin typeface="Consolas"/>
              </a:rPr>
              <a:t>opencode.json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487168"/>
            <a:ext cx="425196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F4F7FC"/>
                </a:solidFill>
                <a:latin typeface="Consolas"/>
              </a:rPr>
              <a:t>{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871216"/>
            <a:ext cx="425196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AFBED6"/>
                </a:solidFill>
                <a:latin typeface="Consolas"/>
              </a:rPr>
              <a:t>  "model": "provider/main",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255264"/>
            <a:ext cx="425196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AFBED6"/>
                </a:solidFill>
                <a:latin typeface="Consolas"/>
              </a:rPr>
              <a:t>  "small_model": "provider/small",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639312"/>
            <a:ext cx="425196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AFBED6"/>
                </a:solidFill>
                <a:latin typeface="Consolas"/>
              </a:rPr>
              <a:t>  "agent": {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023360"/>
            <a:ext cx="425196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AFBED6"/>
                </a:solidFill>
                <a:latin typeface="Consolas"/>
              </a:rPr>
              <a:t>    "plan": { "model": "..." },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407408"/>
            <a:ext cx="425196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AFBED6"/>
                </a:solidFill>
                <a:latin typeface="Consolas"/>
              </a:rPr>
              <a:t>    "build": { "model": "..." 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791456"/>
            <a:ext cx="425196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AFBED6"/>
                </a:solidFill>
                <a:latin typeface="Consolas"/>
              </a:rPr>
              <a:t>  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5175504"/>
            <a:ext cx="425196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F4F7FC"/>
                </a:solidFill>
                <a:latin typeface="Consolas"/>
              </a:rPr>
              <a:t>}</a:t>
            </a:r>
          </a:p>
        </p:txBody>
      </p:sp>
      <p:sp>
        <p:nvSpPr>
          <p:cNvPr id="18" name="Oval 17"/>
          <p:cNvSpPr/>
          <p:nvPr/>
        </p:nvSpPr>
        <p:spPr>
          <a:xfrm>
            <a:off x="6144768" y="1892807"/>
            <a:ext cx="91440" cy="91440"/>
          </a:xfrm>
          <a:prstGeom prst="ellipse">
            <a:avLst/>
          </a:prstGeom>
          <a:solidFill>
            <a:srgbClr val="35D3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73368" y="1783080"/>
            <a:ext cx="4892040" cy="60350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F4F7FC"/>
                </a:solidFill>
                <a:latin typeface="Aptos"/>
              </a:rPr>
              <a:t>Модель задается на уровне проекта.</a:t>
            </a:r>
          </a:p>
        </p:txBody>
      </p:sp>
      <p:sp>
        <p:nvSpPr>
          <p:cNvPr id="20" name="Oval 19"/>
          <p:cNvSpPr/>
          <p:nvPr/>
        </p:nvSpPr>
        <p:spPr>
          <a:xfrm>
            <a:off x="6144768" y="2496312"/>
            <a:ext cx="91440" cy="91440"/>
          </a:xfrm>
          <a:prstGeom prst="ellipse">
            <a:avLst/>
          </a:prstGeom>
          <a:solidFill>
            <a:srgbClr val="35D3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2386584"/>
            <a:ext cx="4892040" cy="60350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F4F7FC"/>
                </a:solidFill>
                <a:latin typeface="Aptos"/>
              </a:rPr>
              <a:t>Агент может использовать собственную модель.</a:t>
            </a:r>
          </a:p>
        </p:txBody>
      </p:sp>
      <p:sp>
        <p:nvSpPr>
          <p:cNvPr id="22" name="Oval 21"/>
          <p:cNvSpPr/>
          <p:nvPr/>
        </p:nvSpPr>
        <p:spPr>
          <a:xfrm>
            <a:off x="6144768" y="3099816"/>
            <a:ext cx="91440" cy="91440"/>
          </a:xfrm>
          <a:prstGeom prst="ellipse">
            <a:avLst/>
          </a:prstGeom>
          <a:solidFill>
            <a:srgbClr val="35D3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73368" y="2990088"/>
            <a:ext cx="4892040" cy="60350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F4F7FC"/>
                </a:solidFill>
                <a:latin typeface="Aptos"/>
              </a:rPr>
              <a:t>model — основные запросы.</a:t>
            </a:r>
          </a:p>
        </p:txBody>
      </p:sp>
      <p:sp>
        <p:nvSpPr>
          <p:cNvPr id="24" name="Oval 23"/>
          <p:cNvSpPr/>
          <p:nvPr/>
        </p:nvSpPr>
        <p:spPr>
          <a:xfrm>
            <a:off x="6144768" y="3703320"/>
            <a:ext cx="91440" cy="91440"/>
          </a:xfrm>
          <a:prstGeom prst="ellipse">
            <a:avLst/>
          </a:prstGeom>
          <a:solidFill>
            <a:srgbClr val="35D3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73368" y="3593591"/>
            <a:ext cx="4892040" cy="60350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F4F7FC"/>
                </a:solidFill>
                <a:latin typeface="Aptos"/>
              </a:rPr>
              <a:t>small_model — вспомогательные операции.</a:t>
            </a:r>
          </a:p>
        </p:txBody>
      </p:sp>
      <p:sp>
        <p:nvSpPr>
          <p:cNvPr id="26" name="Oval 25"/>
          <p:cNvSpPr/>
          <p:nvPr/>
        </p:nvSpPr>
        <p:spPr>
          <a:xfrm>
            <a:off x="6144768" y="4306824"/>
            <a:ext cx="91440" cy="91440"/>
          </a:xfrm>
          <a:prstGeom prst="ellipse">
            <a:avLst/>
          </a:prstGeom>
          <a:solidFill>
            <a:srgbClr val="35D3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73368" y="4197096"/>
            <a:ext cx="4892040" cy="60350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F4F7FC"/>
                </a:solidFill>
                <a:latin typeface="Aptos"/>
              </a:rPr>
              <a:t>Выбор зависит от качества, скорости и стоимости.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4800600"/>
            <a:ext cx="4709160" cy="1143000"/>
          </a:xfrm>
          <a:prstGeom prst="roundRect">
            <a:avLst/>
          </a:prstGeom>
          <a:solidFill>
            <a:srgbClr val="141D32"/>
          </a:solidFill>
          <a:ln w="12700">
            <a:solidFill>
              <a:srgbClr val="2A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models_927x2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8232" y="4828032"/>
            <a:ext cx="4654296" cy="1088136"/>
          </a:xfrm>
          <a:prstGeom prst="rect">
            <a:avLst/>
          </a:prstGeom>
        </p:spPr>
      </p:pic>
      <p:sp>
        <p:nvSpPr>
          <p:cNvPr id="30" name="Rectangle 29"/>
          <p:cNvSpPr/>
          <p:nvPr/>
        </p:nvSpPr>
        <p:spPr>
          <a:xfrm>
            <a:off x="6428232" y="5550408"/>
            <a:ext cx="4654296" cy="365760"/>
          </a:xfrm>
          <a:prstGeom prst="rect">
            <a:avLst/>
          </a:prstGeom>
          <a:solidFill>
            <a:srgbClr val="0D1527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0" y="5623560"/>
            <a:ext cx="434340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AFBED6"/>
                </a:solidFill>
                <a:latin typeface="Aptos"/>
              </a:rPr>
              <a:t>Источник: официальный репозиторий OpenCode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E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41148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5D3FF"/>
                </a:solidFill>
                <a:latin typeface="Aptos"/>
              </a:rPr>
              <a:t>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347472"/>
            <a:ext cx="32004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667997"/>
                </a:solidFill>
                <a:latin typeface="Aptos"/>
              </a:rPr>
              <a:t>МОДЕЛИ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31520"/>
            <a:ext cx="11064240" cy="53035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4F7FC"/>
                </a:solidFill>
                <a:latin typeface="Aptos Display"/>
              </a:rPr>
              <a:t>Распределение задач между моделями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25880"/>
            <a:ext cx="11173968" cy="16459"/>
          </a:xfrm>
          <a:prstGeom prst="rect">
            <a:avLst/>
          </a:prstGeom>
          <a:solidFill>
            <a:srgbClr val="2A3A58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365760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67997"/>
                </a:solidFill>
                <a:latin typeface="Aptos"/>
              </a:rPr>
              <a:t>Использование ИИ в разработке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92240"/>
            <a:ext cx="45720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67997"/>
                </a:solidFill>
                <a:latin typeface="Aptos"/>
              </a:rPr>
              <a:t>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828800"/>
            <a:ext cx="2423160" cy="2057400"/>
          </a:xfrm>
          <a:prstGeom prst="roundRect">
            <a:avLst/>
          </a:prstGeom>
          <a:solidFill>
            <a:srgbClr val="141D32"/>
          </a:solidFill>
          <a:ln w="12700">
            <a:solidFill>
              <a:srgbClr val="2A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1828800"/>
            <a:ext cx="50292" cy="2057400"/>
          </a:xfrm>
          <a:prstGeom prst="rect">
            <a:avLst/>
          </a:prstGeom>
          <a:solidFill>
            <a:srgbClr val="35D3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2011680"/>
            <a:ext cx="41148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5D3FF"/>
                </a:solidFill>
                <a:latin typeface="Apto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1993392"/>
            <a:ext cx="1581912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4F7FC"/>
                </a:solidFill>
                <a:latin typeface="Aptos"/>
              </a:rPr>
              <a:t>Планирование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2514600"/>
            <a:ext cx="1920239" cy="12344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AFBED6"/>
                </a:solidFill>
                <a:latin typeface="Aptos"/>
              </a:rPr>
              <a:t>Мощная модель</a:t>
            </a:r>
          </a:p>
        </p:txBody>
      </p:sp>
      <p:sp>
        <p:nvSpPr>
          <p:cNvPr id="13" name="Chevron 12"/>
          <p:cNvSpPr/>
          <p:nvPr/>
        </p:nvSpPr>
        <p:spPr>
          <a:xfrm>
            <a:off x="3108960" y="2697480"/>
            <a:ext cx="246888" cy="347472"/>
          </a:xfrm>
          <a:prstGeom prst="chevron">
            <a:avLst/>
          </a:prstGeom>
          <a:solidFill>
            <a:srgbClr val="667997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502152" y="1828800"/>
            <a:ext cx="2423160" cy="2057400"/>
          </a:xfrm>
          <a:prstGeom prst="roundRect">
            <a:avLst/>
          </a:prstGeom>
          <a:solidFill>
            <a:srgbClr val="141D32"/>
          </a:solidFill>
          <a:ln w="12700">
            <a:solidFill>
              <a:srgbClr val="2A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2152" y="1828800"/>
            <a:ext cx="50292" cy="2057400"/>
          </a:xfrm>
          <a:prstGeom prst="rect">
            <a:avLst/>
          </a:prstGeom>
          <a:solidFill>
            <a:srgbClr val="4169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30752" y="2011680"/>
            <a:ext cx="41148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4169FF"/>
                </a:solidFill>
                <a:latin typeface="Apto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60520" y="1993392"/>
            <a:ext cx="1581912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4F7FC"/>
                </a:solidFill>
                <a:latin typeface="Aptos"/>
              </a:rPr>
              <a:t>Декомпозиция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58184" y="2514600"/>
            <a:ext cx="1920239" cy="12344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AFBED6"/>
                </a:solidFill>
                <a:latin typeface="Aptos"/>
              </a:rPr>
              <a:t>Небольшие задачи</a:t>
            </a:r>
          </a:p>
        </p:txBody>
      </p:sp>
      <p:sp>
        <p:nvSpPr>
          <p:cNvPr id="19" name="Chevron 18"/>
          <p:cNvSpPr/>
          <p:nvPr/>
        </p:nvSpPr>
        <p:spPr>
          <a:xfrm>
            <a:off x="5989320" y="2697480"/>
            <a:ext cx="246888" cy="347472"/>
          </a:xfrm>
          <a:prstGeom prst="chevron">
            <a:avLst/>
          </a:prstGeom>
          <a:solidFill>
            <a:srgbClr val="667997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382512" y="1828800"/>
            <a:ext cx="2423160" cy="2057400"/>
          </a:xfrm>
          <a:prstGeom prst="roundRect">
            <a:avLst/>
          </a:prstGeom>
          <a:solidFill>
            <a:srgbClr val="141D32"/>
          </a:solidFill>
          <a:ln w="12700">
            <a:solidFill>
              <a:srgbClr val="2A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82512" y="1828800"/>
            <a:ext cx="50292" cy="2057400"/>
          </a:xfrm>
          <a:prstGeom prst="rect">
            <a:avLst/>
          </a:prstGeom>
          <a:solidFill>
            <a:srgbClr val="975B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11112" y="2011680"/>
            <a:ext cx="41148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975BFF"/>
                </a:solidFill>
                <a:latin typeface="Aptos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79" y="1993392"/>
            <a:ext cx="1581912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4F7FC"/>
                </a:solidFill>
                <a:latin typeface="Aptos"/>
              </a:rPr>
              <a:t>Реализация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38544" y="2514600"/>
            <a:ext cx="1920239" cy="12344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AFBED6"/>
                </a:solidFill>
                <a:latin typeface="Aptos"/>
              </a:rPr>
              <a:t>Экономичная модель</a:t>
            </a:r>
          </a:p>
        </p:txBody>
      </p:sp>
      <p:sp>
        <p:nvSpPr>
          <p:cNvPr id="25" name="Chevron 24"/>
          <p:cNvSpPr/>
          <p:nvPr/>
        </p:nvSpPr>
        <p:spPr>
          <a:xfrm>
            <a:off x="8869680" y="2697480"/>
            <a:ext cx="246888" cy="347472"/>
          </a:xfrm>
          <a:prstGeom prst="chevron">
            <a:avLst/>
          </a:prstGeom>
          <a:solidFill>
            <a:srgbClr val="667997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262872" y="1828800"/>
            <a:ext cx="2423160" cy="2057400"/>
          </a:xfrm>
          <a:prstGeom prst="roundRect">
            <a:avLst/>
          </a:prstGeom>
          <a:solidFill>
            <a:srgbClr val="141D32"/>
          </a:solidFill>
          <a:ln w="12700">
            <a:solidFill>
              <a:srgbClr val="2A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262872" y="1828800"/>
            <a:ext cx="50292" cy="2057400"/>
          </a:xfrm>
          <a:prstGeom prst="rect">
            <a:avLst/>
          </a:prstGeom>
          <a:solidFill>
            <a:srgbClr val="4FDDA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91472" y="2011680"/>
            <a:ext cx="41148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4FDDAE"/>
                </a:solidFill>
                <a:latin typeface="Aptos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21240" y="1993392"/>
            <a:ext cx="1581911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4F7FC"/>
                </a:solidFill>
                <a:latin typeface="Aptos"/>
              </a:rPr>
              <a:t>Проверка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18903" y="2514600"/>
            <a:ext cx="1920239" cy="12344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AFBED6"/>
                </a:solidFill>
                <a:latin typeface="Aptos"/>
              </a:rPr>
              <a:t>Контроль результата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188720" y="4709160"/>
            <a:ext cx="9784080" cy="1051560"/>
          </a:xfrm>
          <a:prstGeom prst="roundRect">
            <a:avLst/>
          </a:prstGeom>
          <a:solidFill>
            <a:srgbClr val="19253E"/>
          </a:solidFill>
          <a:ln w="12700">
            <a:solidFill>
              <a:srgbClr val="35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508760" y="4965192"/>
            <a:ext cx="9144000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F4F7FC"/>
                </a:solidFill>
                <a:latin typeface="Aptos"/>
              </a:rPr>
              <a:t>Сложность модели должна соответствовать сложности задачи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74519" y="5961888"/>
            <a:ext cx="841248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AFBED6"/>
                </a:solidFill>
                <a:latin typeface="Aptos"/>
              </a:rPr>
              <a:t>Минимальный достаточный контекст снижает расход токенов и стоимость.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E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41148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5D3FF"/>
                </a:solidFill>
                <a:latin typeface="Aptos"/>
              </a:rPr>
              <a:t>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347472"/>
            <a:ext cx="32004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667997"/>
                </a:solidFill>
                <a:latin typeface="Aptos"/>
              </a:rPr>
              <a:t>ПРАКТИКА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31520"/>
            <a:ext cx="11064240" cy="53035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4F7FC"/>
                </a:solidFill>
                <a:latin typeface="Aptos Display"/>
              </a:rPr>
              <a:t>Демонстрация и выводы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25880"/>
            <a:ext cx="11173968" cy="16459"/>
          </a:xfrm>
          <a:prstGeom prst="rect">
            <a:avLst/>
          </a:prstGeom>
          <a:solidFill>
            <a:srgbClr val="2A3A58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365760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67997"/>
                </a:solidFill>
                <a:latin typeface="Aptos"/>
              </a:rPr>
              <a:t>Использование ИИ в разработке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92240"/>
            <a:ext cx="45720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67997"/>
                </a:solidFill>
                <a:latin typeface="Aptos"/>
              </a:rPr>
              <a:t>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691640"/>
            <a:ext cx="5349240" cy="4343400"/>
          </a:xfrm>
          <a:prstGeom prst="roundRect">
            <a:avLst/>
          </a:prstGeom>
          <a:solidFill>
            <a:srgbClr val="141D32"/>
          </a:solidFill>
          <a:ln w="12700">
            <a:solidFill>
              <a:srgbClr val="2A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691640"/>
            <a:ext cx="50292" cy="4343400"/>
          </a:xfrm>
          <a:prstGeom prst="rect">
            <a:avLst/>
          </a:prstGeom>
          <a:solidFill>
            <a:srgbClr val="35D3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1856232"/>
            <a:ext cx="4910327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4F7FC"/>
                </a:solidFill>
                <a:latin typeface="Aptos"/>
              </a:rPr>
              <a:t>Демонстрация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2377440"/>
            <a:ext cx="4846320" cy="35204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AFBED6"/>
                </a:solidFill>
                <a:latin typeface="Aptos"/>
              </a:rPr>
              <a:t>1. Запуск версии 1
2. Просмотр агентов и команд
3. Запуск версии 3
4. Повторное использование ID сессий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691640"/>
            <a:ext cx="5349240" cy="4343400"/>
          </a:xfrm>
          <a:prstGeom prst="roundRect">
            <a:avLst/>
          </a:prstGeom>
          <a:solidFill>
            <a:srgbClr val="141D32"/>
          </a:solidFill>
          <a:ln w="12700">
            <a:solidFill>
              <a:srgbClr val="2A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1691640"/>
            <a:ext cx="50292" cy="4343400"/>
          </a:xfrm>
          <a:prstGeom prst="rect">
            <a:avLst/>
          </a:prstGeom>
          <a:solidFill>
            <a:srgbClr val="4FDDA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8232" y="1856232"/>
            <a:ext cx="4910327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4F7FC"/>
                </a:solidFill>
                <a:latin typeface="Aptos"/>
              </a:rPr>
              <a:t>Выводы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8232" y="2377440"/>
            <a:ext cx="4846320" cy="35204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AFBED6"/>
                </a:solidFill>
                <a:latin typeface="Aptos"/>
              </a:rPr>
              <a:t>• Работа разделяется между агентами
• Контекст передается осознанно
• Инструкции повышают предсказуемость
• Модель выбирается под задачу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6172200"/>
            <a:ext cx="996696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4F7FC"/>
                </a:solidFill>
                <a:latin typeface="Aptos"/>
              </a:rPr>
              <a:t>OpenCode помогает управлять сложной работой через контекст, роли и инструменты.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E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41148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5D3FF"/>
                </a:solidFill>
                <a:latin typeface="Aptos"/>
              </a:rPr>
              <a:t>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347472"/>
            <a:ext cx="32004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667997"/>
                </a:solidFill>
                <a:latin typeface="Aptos"/>
              </a:rPr>
              <a:t>МАТЕРИАЛЫ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31520"/>
            <a:ext cx="11064240" cy="53035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4F7FC"/>
                </a:solidFill>
                <a:latin typeface="Aptos Display"/>
              </a:rPr>
              <a:t>Источники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25880"/>
            <a:ext cx="11173968" cy="16459"/>
          </a:xfrm>
          <a:prstGeom prst="rect">
            <a:avLst/>
          </a:prstGeom>
          <a:solidFill>
            <a:srgbClr val="2A3A58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365760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67997"/>
                </a:solidFill>
                <a:latin typeface="Aptos"/>
              </a:rPr>
              <a:t>Использование ИИ в разработке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92240"/>
            <a:ext cx="45720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67997"/>
                </a:solidFill>
                <a:latin typeface="Aptos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682496"/>
            <a:ext cx="384048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5D3FF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645920"/>
            <a:ext cx="3749039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4F7FC"/>
                </a:solidFill>
                <a:latin typeface="Aptos"/>
              </a:rPr>
              <a:t>Официальная документация OpenCode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1645920"/>
            <a:ext cx="662940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AFBED6"/>
                </a:solidFill>
                <a:latin typeface="Consolas"/>
                <a:hlinkClick r:id="rId2"/>
              </a:rPr>
              <a:t>https://opencode.ai/docs/ru/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596896"/>
            <a:ext cx="384048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5D3FF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560320"/>
            <a:ext cx="3749039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4F7FC"/>
                </a:solidFill>
                <a:latin typeface="Aptos"/>
              </a:rPr>
              <a:t>Документация по командам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560320"/>
            <a:ext cx="662940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AFBED6"/>
                </a:solidFill>
                <a:latin typeface="Consolas"/>
                <a:hlinkClick r:id="rId3"/>
              </a:rPr>
              <a:t>https://open-code.ai/ru/docs/commands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511296"/>
            <a:ext cx="384048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5D3FF"/>
                </a:solidFill>
                <a:latin typeface="Apto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474720"/>
            <a:ext cx="3749039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4F7FC"/>
                </a:solidFill>
                <a:latin typeface="Aptos"/>
              </a:rPr>
              <a:t>Руководство DataTalks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3474720"/>
            <a:ext cx="662940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AFBED6"/>
                </a:solidFill>
                <a:latin typeface="Consolas"/>
                <a:hlinkClick r:id="rId4"/>
              </a:rPr>
              <a:t>https://datatalks.ru/opencode/index.html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425696"/>
            <a:ext cx="384048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5D3FF"/>
                </a:solidFill>
                <a:latin typeface="Aptos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4389120"/>
            <a:ext cx="3749039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4F7FC"/>
                </a:solidFill>
                <a:latin typeface="Aptos"/>
              </a:rPr>
              <a:t>Репозиторий проекта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389120"/>
            <a:ext cx="662940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AFBED6"/>
                </a:solidFill>
                <a:latin typeface="Consolas"/>
                <a:hlinkClick r:id="rId5"/>
              </a:rPr>
              <a:t>https://github.com/kit-1414/ai_sea_battle_.git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422392"/>
            <a:ext cx="1234440" cy="29260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75BFF"/>
                </a:solidFill>
                <a:latin typeface="Aptos"/>
              </a:rPr>
              <a:t>Изображения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0" y="5376672"/>
            <a:ext cx="905256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AFBED6"/>
                </a:solidFill>
                <a:latin typeface="Aptos"/>
              </a:rPr>
              <a:t>Официальный репозиторий OpenCode: github.com/anomalyco/opencode
packages/web/src/assets/lander/screenshot.png; изображение репозитория GitHub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05088" y="5925312"/>
            <a:ext cx="2560320" cy="530352"/>
          </a:xfrm>
          <a:prstGeom prst="roundRect">
            <a:avLst/>
          </a:prstGeom>
          <a:solidFill>
            <a:srgbClr val="19253E"/>
          </a:solidFill>
          <a:ln w="12700">
            <a:solidFill>
              <a:srgbClr val="35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51392" y="6053328"/>
            <a:ext cx="2267712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4F7FC"/>
                </a:solidFill>
                <a:latin typeface="Aptos"/>
              </a:rPr>
              <a:t>Спасибо за внимание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Использование ИИ в разработке — OpenCode и ChatGPT</dc:title>
  <dc:subject>Агенты, контекст, инструменты и модели OpenCode</dc:subject>
  <dc:creator>Проект ai_sea_battle_</dc:creator>
  <cp:keywords>OpenCode, ИИ, агенты, контекст, LLM</cp:keywords>
  <dc:description>Создано на основе doclad.md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